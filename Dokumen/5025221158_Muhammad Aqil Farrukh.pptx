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0" r:id="rId4"/>
    <p:sldId id="258" r:id="rId5"/>
    <p:sldId id="260" r:id="rId6"/>
    <p:sldId id="259" r:id="rId7"/>
    <p:sldId id="272" r:id="rId8"/>
    <p:sldId id="261" r:id="rId9"/>
    <p:sldId id="262" r:id="rId10"/>
    <p:sldId id="271" r:id="rId11"/>
    <p:sldId id="264" r:id="rId12"/>
    <p:sldId id="273" r:id="rId13"/>
    <p:sldId id="263" r:id="rId14"/>
    <p:sldId id="265" r:id="rId15"/>
    <p:sldId id="274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Black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y+JFbPFUNzEaL5PSa/ADjhI84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-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96A9-033D-B08F-D038-E5C1AC22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92509-5603-EDB1-E935-ACA897312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9F7C3-3E7F-CE12-11DC-25B6F1131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7272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6428-AE59-88E1-6491-F4D78301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80CCD-5610-6D06-9767-A2F9FD58F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60B2B-BA40-0299-09B7-8C51F1F5E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5425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09AF7-5470-C2D7-B397-8172A71B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8E77B-4E0B-DF4C-5B28-24A02B8BB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25209-2E6F-6A9D-4370-485B4B5D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86499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2A9C-50A9-968F-2289-1751CC29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2468-B04A-E4BC-10AC-C84F950BB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526B1-D93D-DC2D-C66C-8AAA02B85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99799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8AFE-53F0-2320-7AEC-34132F54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36DCE-D392-0D77-459A-A6E4575C6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EFDA9-CE99-D30E-8866-9DCAA1A5B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32790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d-ID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Presentasi BG Putih">
  <p:cSld name="Judul Presentasi BG Putih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40"/>
          <p:cNvGrpSpPr/>
          <p:nvPr/>
        </p:nvGrpSpPr>
        <p:grpSpPr>
          <a:xfrm>
            <a:off x="5095424" y="5626641"/>
            <a:ext cx="8097649" cy="963084"/>
            <a:chOff x="0" y="0"/>
            <a:chExt cx="2132700" cy="253650"/>
          </a:xfrm>
        </p:grpSpPr>
        <p:sp>
          <p:nvSpPr>
            <p:cNvPr id="13" name="Google Shape;13;p40"/>
            <p:cNvSpPr/>
            <p:nvPr/>
          </p:nvSpPr>
          <p:spPr>
            <a:xfrm>
              <a:off x="0" y="0"/>
              <a:ext cx="2132583" cy="253622"/>
            </a:xfrm>
            <a:custGeom>
              <a:avLst/>
              <a:gdLst/>
              <a:ahLst/>
              <a:cxnLst/>
              <a:rect l="l" t="t" r="r" b="b"/>
              <a:pathLst>
                <a:path w="2132583" h="253622" extrusionOk="0">
                  <a:moveTo>
                    <a:pt x="95613" y="0"/>
                  </a:moveTo>
                  <a:lnTo>
                    <a:pt x="2036970" y="0"/>
                  </a:lnTo>
                  <a:cubicBezTo>
                    <a:pt x="2089776" y="0"/>
                    <a:pt x="2132583" y="42807"/>
                    <a:pt x="2132583" y="95613"/>
                  </a:cubicBezTo>
                  <a:lnTo>
                    <a:pt x="2132583" y="158009"/>
                  </a:lnTo>
                  <a:cubicBezTo>
                    <a:pt x="2132583" y="210815"/>
                    <a:pt x="2089776" y="253622"/>
                    <a:pt x="2036970" y="253622"/>
                  </a:cubicBezTo>
                  <a:lnTo>
                    <a:pt x="95613" y="253622"/>
                  </a:lnTo>
                  <a:cubicBezTo>
                    <a:pt x="42807" y="253622"/>
                    <a:pt x="0" y="210815"/>
                    <a:pt x="0" y="158009"/>
                  </a:cubicBezTo>
                  <a:lnTo>
                    <a:pt x="0" y="95613"/>
                  </a:lnTo>
                  <a:cubicBezTo>
                    <a:pt x="0" y="42807"/>
                    <a:pt x="42807" y="0"/>
                    <a:pt x="95613" y="0"/>
                  </a:cubicBez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40"/>
            <p:cNvSpPr txBox="1"/>
            <p:nvPr/>
          </p:nvSpPr>
          <p:spPr>
            <a:xfrm>
              <a:off x="0" y="19050"/>
              <a:ext cx="21327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40"/>
          <p:cNvGrpSpPr/>
          <p:nvPr/>
        </p:nvGrpSpPr>
        <p:grpSpPr>
          <a:xfrm>
            <a:off x="-532104" y="9574140"/>
            <a:ext cx="9347774" cy="1151030"/>
            <a:chOff x="0" y="0"/>
            <a:chExt cx="2461949" cy="303150"/>
          </a:xfrm>
        </p:grpSpPr>
        <p:sp>
          <p:nvSpPr>
            <p:cNvPr id="16" name="Google Shape;16;p40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40"/>
            <p:cNvSpPr txBox="1"/>
            <p:nvPr/>
          </p:nvSpPr>
          <p:spPr>
            <a:xfrm>
              <a:off x="0" y="19050"/>
              <a:ext cx="24618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" name="Google Shape;18;p40"/>
          <p:cNvCxnSpPr/>
          <p:nvPr/>
        </p:nvCxnSpPr>
        <p:spPr>
          <a:xfrm>
            <a:off x="1028700" y="8124325"/>
            <a:ext cx="162306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40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0"/>
          <p:cNvSpPr txBox="1">
            <a:spLocks noGrp="1"/>
          </p:cNvSpPr>
          <p:nvPr>
            <p:ph type="title"/>
          </p:nvPr>
        </p:nvSpPr>
        <p:spPr>
          <a:xfrm>
            <a:off x="4906340" y="1747673"/>
            <a:ext cx="12124359" cy="354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 sz="8000" b="1" i="0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subTitle" idx="1"/>
          </p:nvPr>
        </p:nvSpPr>
        <p:spPr>
          <a:xfrm>
            <a:off x="5323840" y="5834198"/>
            <a:ext cx="7579360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600"/>
              <a:buNone/>
              <a:defRPr sz="2600" b="1" i="1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body" idx="2"/>
          </p:nvPr>
        </p:nvSpPr>
        <p:spPr>
          <a:xfrm>
            <a:off x="9523296" y="8617585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200"/>
              <a:buNone/>
              <a:defRPr sz="2200" b="1" i="0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3"/>
          </p:nvPr>
        </p:nvSpPr>
        <p:spPr>
          <a:xfrm>
            <a:off x="9523296" y="9016328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200"/>
              <a:buNone/>
              <a:defRPr sz="2200" b="0" i="1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pic>
        <p:nvPicPr>
          <p:cNvPr id="24" name="Google Shape;24;p40" descr="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37144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0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0"/>
          <p:cNvSpPr>
            <a:spLocks noGrp="1"/>
          </p:cNvSpPr>
          <p:nvPr>
            <p:ph type="pic" idx="4"/>
          </p:nvPr>
        </p:nvSpPr>
        <p:spPr>
          <a:xfrm>
            <a:off x="1295984" y="3013457"/>
            <a:ext cx="2501317" cy="25399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d-ID"/>
          </a:p>
        </p:txBody>
      </p:sp>
      <p:grpSp>
        <p:nvGrpSpPr>
          <p:cNvPr id="27" name="Google Shape;27;p40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28" name="Google Shape;28;p40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0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" name="Google Shape;30;p40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Konten">
  <p:cSld name="Judul dan Konte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41" descr="Blue text on a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8747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41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35" name="Google Shape;35;p41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1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41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1"/>
          <p:cNvSpPr txBox="1">
            <a:spLocks noGrp="1"/>
          </p:cNvSpPr>
          <p:nvPr>
            <p:ph type="body" idx="1"/>
          </p:nvPr>
        </p:nvSpPr>
        <p:spPr>
          <a:xfrm>
            <a:off x="899598" y="3158927"/>
            <a:ext cx="16359701" cy="6021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title"/>
          </p:nvPr>
        </p:nvSpPr>
        <p:spPr>
          <a:xfrm>
            <a:off x="899597" y="1711425"/>
            <a:ext cx="16470875" cy="12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41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41" name="Google Shape;41;p41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1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" name="Google Shape;43;p41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Presentasi BG Biru">
  <p:cSld name="Judul Presentasi BG Biru">
    <p:bg>
      <p:bgPr>
        <a:solidFill>
          <a:srgbClr val="107BC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19676" y="137542"/>
            <a:ext cx="8723126" cy="11444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55661" y="4434600"/>
            <a:ext cx="4090487" cy="536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p42"/>
          <p:cNvGrpSpPr/>
          <p:nvPr/>
        </p:nvGrpSpPr>
        <p:grpSpPr>
          <a:xfrm>
            <a:off x="6353777" y="152400"/>
            <a:ext cx="13944727" cy="11004141"/>
            <a:chOff x="0" y="0"/>
            <a:chExt cx="2049339" cy="2782125"/>
          </a:xfrm>
        </p:grpSpPr>
        <p:sp>
          <p:nvSpPr>
            <p:cNvPr id="48" name="Google Shape;48;p42"/>
            <p:cNvSpPr/>
            <p:nvPr/>
          </p:nvSpPr>
          <p:spPr>
            <a:xfrm>
              <a:off x="0" y="0"/>
              <a:ext cx="2049339" cy="2782101"/>
            </a:xfrm>
            <a:custGeom>
              <a:avLst/>
              <a:gdLst/>
              <a:ahLst/>
              <a:cxnLst/>
              <a:rect l="l" t="t" r="r" b="b"/>
              <a:pathLst>
                <a:path w="2049339" h="2782102" extrusionOk="0">
                  <a:moveTo>
                    <a:pt x="0" y="0"/>
                  </a:moveTo>
                  <a:lnTo>
                    <a:pt x="2049339" y="0"/>
                  </a:lnTo>
                  <a:lnTo>
                    <a:pt x="2049339" y="2782102"/>
                  </a:lnTo>
                  <a:lnTo>
                    <a:pt x="0" y="2782102"/>
                  </a:lnTo>
                  <a:close/>
                </a:path>
              </a:pathLst>
            </a:custGeom>
            <a:gradFill>
              <a:gsLst>
                <a:gs pos="0">
                  <a:srgbClr val="0F7BC1"/>
                </a:gs>
                <a:gs pos="50000">
                  <a:srgbClr val="0F7BC1"/>
                </a:gs>
                <a:gs pos="100000">
                  <a:srgbClr val="0F7BC1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endParaRPr sz="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42"/>
            <p:cNvSpPr txBox="1"/>
            <p:nvPr/>
          </p:nvSpPr>
          <p:spPr>
            <a:xfrm>
              <a:off x="0" y="9525"/>
              <a:ext cx="2049300" cy="277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654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endParaRPr sz="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42"/>
          <p:cNvGrpSpPr/>
          <p:nvPr/>
        </p:nvGrpSpPr>
        <p:grpSpPr>
          <a:xfrm>
            <a:off x="5095424" y="5626641"/>
            <a:ext cx="8097649" cy="963084"/>
            <a:chOff x="0" y="0"/>
            <a:chExt cx="2132700" cy="253650"/>
          </a:xfrm>
        </p:grpSpPr>
        <p:sp>
          <p:nvSpPr>
            <p:cNvPr id="51" name="Google Shape;51;p42"/>
            <p:cNvSpPr/>
            <p:nvPr/>
          </p:nvSpPr>
          <p:spPr>
            <a:xfrm>
              <a:off x="0" y="0"/>
              <a:ext cx="2132583" cy="253622"/>
            </a:xfrm>
            <a:custGeom>
              <a:avLst/>
              <a:gdLst/>
              <a:ahLst/>
              <a:cxnLst/>
              <a:rect l="l" t="t" r="r" b="b"/>
              <a:pathLst>
                <a:path w="2132583" h="253622" extrusionOk="0">
                  <a:moveTo>
                    <a:pt x="95613" y="0"/>
                  </a:moveTo>
                  <a:lnTo>
                    <a:pt x="2036970" y="0"/>
                  </a:lnTo>
                  <a:cubicBezTo>
                    <a:pt x="2089776" y="0"/>
                    <a:pt x="2132583" y="42807"/>
                    <a:pt x="2132583" y="95613"/>
                  </a:cubicBezTo>
                  <a:lnTo>
                    <a:pt x="2132583" y="158009"/>
                  </a:lnTo>
                  <a:cubicBezTo>
                    <a:pt x="2132583" y="210815"/>
                    <a:pt x="2089776" y="253622"/>
                    <a:pt x="2036970" y="253622"/>
                  </a:cubicBezTo>
                  <a:lnTo>
                    <a:pt x="95613" y="253622"/>
                  </a:lnTo>
                  <a:cubicBezTo>
                    <a:pt x="42807" y="253622"/>
                    <a:pt x="0" y="210815"/>
                    <a:pt x="0" y="158009"/>
                  </a:cubicBezTo>
                  <a:lnTo>
                    <a:pt x="0" y="95613"/>
                  </a:lnTo>
                  <a:cubicBezTo>
                    <a:pt x="0" y="42807"/>
                    <a:pt x="42807" y="0"/>
                    <a:pt x="95613" y="0"/>
                  </a:cubicBez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2"/>
            <p:cNvSpPr txBox="1"/>
            <p:nvPr/>
          </p:nvSpPr>
          <p:spPr>
            <a:xfrm>
              <a:off x="0" y="19050"/>
              <a:ext cx="21327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42"/>
          <p:cNvGrpSpPr/>
          <p:nvPr/>
        </p:nvGrpSpPr>
        <p:grpSpPr>
          <a:xfrm>
            <a:off x="-532104" y="9574140"/>
            <a:ext cx="9347774" cy="1151030"/>
            <a:chOff x="0" y="0"/>
            <a:chExt cx="2461949" cy="303150"/>
          </a:xfrm>
        </p:grpSpPr>
        <p:sp>
          <p:nvSpPr>
            <p:cNvPr id="54" name="Google Shape;54;p42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2"/>
            <p:cNvSpPr txBox="1"/>
            <p:nvPr/>
          </p:nvSpPr>
          <p:spPr>
            <a:xfrm>
              <a:off x="0" y="19050"/>
              <a:ext cx="24618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" name="Google Shape;56;p42"/>
          <p:cNvCxnSpPr/>
          <p:nvPr/>
        </p:nvCxnSpPr>
        <p:spPr>
          <a:xfrm>
            <a:off x="1028700" y="8124325"/>
            <a:ext cx="162306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42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2"/>
          <p:cNvSpPr/>
          <p:nvPr/>
        </p:nvSpPr>
        <p:spPr>
          <a:xfrm rot="10800000">
            <a:off x="0" y="7382062"/>
            <a:ext cx="2143723" cy="2192078"/>
          </a:xfrm>
          <a:custGeom>
            <a:avLst/>
            <a:gdLst/>
            <a:ahLst/>
            <a:cxnLst/>
            <a:rect l="l" t="t" r="r" b="b"/>
            <a:pathLst>
              <a:path w="2143723" h="2192078" extrusionOk="0">
                <a:moveTo>
                  <a:pt x="2143723" y="2192078"/>
                </a:moveTo>
                <a:lnTo>
                  <a:pt x="0" y="2192078"/>
                </a:lnTo>
                <a:lnTo>
                  <a:pt x="0" y="0"/>
                </a:lnTo>
                <a:lnTo>
                  <a:pt x="2143723" y="0"/>
                </a:lnTo>
                <a:lnTo>
                  <a:pt x="2143723" y="219207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2"/>
          <p:cNvSpPr txBox="1"/>
          <p:nvPr/>
        </p:nvSpPr>
        <p:spPr>
          <a:xfrm>
            <a:off x="11559484" y="884700"/>
            <a:ext cx="569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2"/>
          <p:cNvSpPr txBox="1">
            <a:spLocks noGrp="1"/>
          </p:cNvSpPr>
          <p:nvPr>
            <p:ph type="title"/>
          </p:nvPr>
        </p:nvSpPr>
        <p:spPr>
          <a:xfrm>
            <a:off x="4906340" y="1747673"/>
            <a:ext cx="12124359" cy="354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aleway Black"/>
              <a:buNone/>
              <a:defRPr sz="8000" b="1" i="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subTitle" idx="1"/>
          </p:nvPr>
        </p:nvSpPr>
        <p:spPr>
          <a:xfrm>
            <a:off x="5323840" y="5834198"/>
            <a:ext cx="7579360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600"/>
              <a:buNone/>
              <a:defRPr sz="2600" b="1" i="0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body" idx="2"/>
          </p:nvPr>
        </p:nvSpPr>
        <p:spPr>
          <a:xfrm>
            <a:off x="9523296" y="8617585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2"/>
          <p:cNvSpPr txBox="1">
            <a:spLocks noGrp="1"/>
          </p:cNvSpPr>
          <p:nvPr>
            <p:ph type="body" idx="3"/>
          </p:nvPr>
        </p:nvSpPr>
        <p:spPr>
          <a:xfrm>
            <a:off x="9523296" y="9016328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pic>
        <p:nvPicPr>
          <p:cNvPr id="64" name="Google Shape;64;p42" descr="A black background with white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8777" y="1615284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2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42"/>
          <p:cNvGrpSpPr/>
          <p:nvPr/>
        </p:nvGrpSpPr>
        <p:grpSpPr>
          <a:xfrm>
            <a:off x="892598" y="425213"/>
            <a:ext cx="2936454" cy="798182"/>
            <a:chOff x="892598" y="425213"/>
            <a:chExt cx="2936454" cy="798182"/>
          </a:xfrm>
        </p:grpSpPr>
        <p:sp>
          <p:nvSpPr>
            <p:cNvPr id="67" name="Google Shape;67;p42"/>
            <p:cNvSpPr/>
            <p:nvPr/>
          </p:nvSpPr>
          <p:spPr>
            <a:xfrm>
              <a:off x="892598" y="6430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2"/>
            <p:cNvSpPr/>
            <p:nvPr/>
          </p:nvSpPr>
          <p:spPr>
            <a:xfrm>
              <a:off x="3174459" y="5667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" name="Google Shape;69;p42" descr="A logo with a person in a hat&#10;&#10;AI-generated content may be incorrect.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988303" y="425213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Bab BG Biru">
  <p:cSld name="Judul Bab BG Biru">
    <p:bg>
      <p:bgPr>
        <a:solidFill>
          <a:srgbClr val="107BC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43"/>
          <p:cNvGrpSpPr/>
          <p:nvPr/>
        </p:nvGrpSpPr>
        <p:grpSpPr>
          <a:xfrm>
            <a:off x="-532104" y="9574140"/>
            <a:ext cx="9347774" cy="1151030"/>
            <a:chOff x="0" y="0"/>
            <a:chExt cx="2461949" cy="303150"/>
          </a:xfrm>
        </p:grpSpPr>
        <p:sp>
          <p:nvSpPr>
            <p:cNvPr id="72" name="Google Shape;72;p43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3"/>
            <p:cNvSpPr txBox="1"/>
            <p:nvPr/>
          </p:nvSpPr>
          <p:spPr>
            <a:xfrm>
              <a:off x="0" y="19050"/>
              <a:ext cx="24618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4" name="Google Shape;74;p43"/>
          <p:cNvCxnSpPr/>
          <p:nvPr/>
        </p:nvCxnSpPr>
        <p:spPr>
          <a:xfrm>
            <a:off x="1028700" y="8124325"/>
            <a:ext cx="162306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43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3"/>
          <p:cNvSpPr txBox="1"/>
          <p:nvPr/>
        </p:nvSpPr>
        <p:spPr>
          <a:xfrm>
            <a:off x="11559484" y="884700"/>
            <a:ext cx="569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452" y="3325973"/>
            <a:ext cx="4935476" cy="647524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3"/>
          <p:cNvSpPr txBox="1">
            <a:spLocks noGrp="1"/>
          </p:cNvSpPr>
          <p:nvPr>
            <p:ph type="title"/>
          </p:nvPr>
        </p:nvSpPr>
        <p:spPr>
          <a:xfrm>
            <a:off x="5567681" y="1663065"/>
            <a:ext cx="11453494" cy="33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aleway Black"/>
              <a:buNone/>
              <a:defRPr sz="8000" b="1" i="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9607584" y="8597265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2"/>
          </p:nvPr>
        </p:nvSpPr>
        <p:spPr>
          <a:xfrm>
            <a:off x="9607584" y="8996008"/>
            <a:ext cx="7735888" cy="33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0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subTitle" idx="3"/>
          </p:nvPr>
        </p:nvSpPr>
        <p:spPr>
          <a:xfrm>
            <a:off x="5567681" y="5114359"/>
            <a:ext cx="9611360" cy="238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0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2" name="Google Shape;82;p43" descr="A black background with white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8777" y="1615284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4" name="Google Shape;84;p43"/>
          <p:cNvGrpSpPr/>
          <p:nvPr/>
        </p:nvGrpSpPr>
        <p:grpSpPr>
          <a:xfrm>
            <a:off x="892598" y="425213"/>
            <a:ext cx="2936454" cy="798182"/>
            <a:chOff x="892598" y="425213"/>
            <a:chExt cx="2936454" cy="798182"/>
          </a:xfrm>
        </p:grpSpPr>
        <p:sp>
          <p:nvSpPr>
            <p:cNvPr id="85" name="Google Shape;85;p43"/>
            <p:cNvSpPr/>
            <p:nvPr/>
          </p:nvSpPr>
          <p:spPr>
            <a:xfrm>
              <a:off x="892598" y="6430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43"/>
            <p:cNvSpPr/>
            <p:nvPr/>
          </p:nvSpPr>
          <p:spPr>
            <a:xfrm>
              <a:off x="3174459" y="5667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7" name="Google Shape;87;p43" descr="A logo with a person in a hat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88303" y="425213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Bab BG Putih">
  <p:cSld name="Judul Bab BG Putih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44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90" name="Google Shape;90;p44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4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44"/>
          <p:cNvGrpSpPr/>
          <p:nvPr/>
        </p:nvGrpSpPr>
        <p:grpSpPr>
          <a:xfrm>
            <a:off x="17413457" y="9574140"/>
            <a:ext cx="1385804" cy="1150557"/>
            <a:chOff x="0" y="0"/>
            <a:chExt cx="364985" cy="303027"/>
          </a:xfrm>
        </p:grpSpPr>
        <p:sp>
          <p:nvSpPr>
            <p:cNvPr id="93" name="Google Shape;93;p44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44"/>
            <p:cNvSpPr txBox="1"/>
            <p:nvPr/>
          </p:nvSpPr>
          <p:spPr>
            <a:xfrm>
              <a:off x="0" y="19050"/>
              <a:ext cx="364985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44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4"/>
          <p:cNvSpPr txBox="1"/>
          <p:nvPr/>
        </p:nvSpPr>
        <p:spPr>
          <a:xfrm>
            <a:off x="11559484" y="9808621"/>
            <a:ext cx="5699816" cy="3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4"/>
          <p:cNvSpPr/>
          <p:nvPr/>
        </p:nvSpPr>
        <p:spPr>
          <a:xfrm rot="10800000">
            <a:off x="0" y="7382062"/>
            <a:ext cx="2143723" cy="2192078"/>
          </a:xfrm>
          <a:custGeom>
            <a:avLst/>
            <a:gdLst/>
            <a:ahLst/>
            <a:cxnLst/>
            <a:rect l="l" t="t" r="r" b="b"/>
            <a:pathLst>
              <a:path w="2143723" h="2192078" extrusionOk="0">
                <a:moveTo>
                  <a:pt x="2143723" y="2192078"/>
                </a:moveTo>
                <a:lnTo>
                  <a:pt x="0" y="2192078"/>
                </a:lnTo>
                <a:lnTo>
                  <a:pt x="0" y="0"/>
                </a:lnTo>
                <a:lnTo>
                  <a:pt x="2143723" y="0"/>
                </a:lnTo>
                <a:lnTo>
                  <a:pt x="2143723" y="219207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4"/>
          <p:cNvSpPr/>
          <p:nvPr/>
        </p:nvSpPr>
        <p:spPr>
          <a:xfrm rot="5400000" flipH="1">
            <a:off x="16120099" y="-24177"/>
            <a:ext cx="2143723" cy="2192078"/>
          </a:xfrm>
          <a:custGeom>
            <a:avLst/>
            <a:gdLst/>
            <a:ahLst/>
            <a:cxnLst/>
            <a:rect l="l" t="t" r="r" b="b"/>
            <a:pathLst>
              <a:path w="2143723" h="2192078" extrusionOk="0">
                <a:moveTo>
                  <a:pt x="0" y="2192078"/>
                </a:moveTo>
                <a:lnTo>
                  <a:pt x="2143724" y="2192078"/>
                </a:lnTo>
                <a:lnTo>
                  <a:pt x="2143724" y="0"/>
                </a:lnTo>
                <a:lnTo>
                  <a:pt x="0" y="0"/>
                </a:lnTo>
                <a:lnTo>
                  <a:pt x="0" y="219207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44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 flipH="1">
            <a:off x="10879951" y="2143722"/>
            <a:ext cx="6533487" cy="8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4"/>
          <p:cNvSpPr txBox="1">
            <a:spLocks noGrp="1"/>
          </p:cNvSpPr>
          <p:nvPr>
            <p:ph type="title"/>
          </p:nvPr>
        </p:nvSpPr>
        <p:spPr>
          <a:xfrm>
            <a:off x="874562" y="2134496"/>
            <a:ext cx="15221359" cy="13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 sz="8000" b="1" i="0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4"/>
          <p:cNvSpPr txBox="1">
            <a:spLocks noGrp="1"/>
          </p:cNvSpPr>
          <p:nvPr>
            <p:ph type="subTitle" idx="1"/>
          </p:nvPr>
        </p:nvSpPr>
        <p:spPr>
          <a:xfrm>
            <a:off x="874562" y="3503542"/>
            <a:ext cx="8269439" cy="3257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100"/>
              <a:buNone/>
              <a:defRPr sz="2100" b="0" i="0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02" name="Google Shape;102;p44" descr="Blue text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23627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4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" name="Google Shape;104;p44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105" name="Google Shape;105;p44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4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" name="Google Shape;107;p44" descr="A logo with a person in the middle&#10;&#10;AI-generated content may be incorrect.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Saja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5"/>
          <p:cNvSpPr txBox="1">
            <a:spLocks noGrp="1"/>
          </p:cNvSpPr>
          <p:nvPr>
            <p:ph type="title"/>
          </p:nvPr>
        </p:nvSpPr>
        <p:spPr>
          <a:xfrm>
            <a:off x="899597" y="1711425"/>
            <a:ext cx="16470875" cy="12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5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45" descr="Blue text on a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8747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45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113" name="Google Shape;113;p45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5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45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45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117" name="Google Shape;117;p45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5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45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nten Saja">
  <p:cSld name="Konten Saja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46" descr="Blue text on a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8747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46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124" name="Google Shape;124;p46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46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46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6"/>
          <p:cNvSpPr txBox="1">
            <a:spLocks noGrp="1"/>
          </p:cNvSpPr>
          <p:nvPr>
            <p:ph type="body" idx="1"/>
          </p:nvPr>
        </p:nvSpPr>
        <p:spPr>
          <a:xfrm>
            <a:off x="899598" y="1664578"/>
            <a:ext cx="16359701" cy="751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8" name="Google Shape;128;p46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129" name="Google Shape;129;p46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6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1" name="Google Shape;131;p46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 Poin Teks">
  <p:cSld name="Dua Poin Teks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/>
          <p:nvPr/>
        </p:nvSpPr>
        <p:spPr>
          <a:xfrm>
            <a:off x="10415404" y="0"/>
            <a:ext cx="7872596" cy="10287000"/>
          </a:xfrm>
          <a:custGeom>
            <a:avLst/>
            <a:gdLst/>
            <a:ahLst/>
            <a:cxnLst/>
            <a:rect l="l" t="t" r="r" b="b"/>
            <a:pathLst>
              <a:path w="1219671" h="1593725" extrusionOk="0">
                <a:moveTo>
                  <a:pt x="0" y="0"/>
                </a:moveTo>
                <a:lnTo>
                  <a:pt x="1219671" y="0"/>
                </a:lnTo>
                <a:lnTo>
                  <a:pt x="1219671" y="1593725"/>
                </a:lnTo>
                <a:lnTo>
                  <a:pt x="0" y="1593725"/>
                </a:lnTo>
                <a:close/>
              </a:path>
            </a:pathLst>
          </a:custGeom>
          <a:solidFill>
            <a:srgbClr val="0E7AC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47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 flipH="1">
            <a:off x="10879951" y="2143722"/>
            <a:ext cx="6533487" cy="8571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47"/>
          <p:cNvGrpSpPr/>
          <p:nvPr/>
        </p:nvGrpSpPr>
        <p:grpSpPr>
          <a:xfrm>
            <a:off x="1028700" y="5744547"/>
            <a:ext cx="9386704" cy="3513753"/>
            <a:chOff x="0" y="0"/>
            <a:chExt cx="2472218" cy="925433"/>
          </a:xfrm>
        </p:grpSpPr>
        <p:sp>
          <p:nvSpPr>
            <p:cNvPr id="136" name="Google Shape;136;p47"/>
            <p:cNvSpPr/>
            <p:nvPr/>
          </p:nvSpPr>
          <p:spPr>
            <a:xfrm>
              <a:off x="0" y="0"/>
              <a:ext cx="2472218" cy="925433"/>
            </a:xfrm>
            <a:custGeom>
              <a:avLst/>
              <a:gdLst/>
              <a:ahLst/>
              <a:cxnLst/>
              <a:rect l="l" t="t" r="r" b="b"/>
              <a:pathLst>
                <a:path w="2472218" h="925433" extrusionOk="0">
                  <a:moveTo>
                    <a:pt x="0" y="0"/>
                  </a:moveTo>
                  <a:lnTo>
                    <a:pt x="2472218" y="0"/>
                  </a:lnTo>
                  <a:lnTo>
                    <a:pt x="2472218" y="925433"/>
                  </a:lnTo>
                  <a:lnTo>
                    <a:pt x="0" y="925433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7"/>
            <p:cNvSpPr txBox="1"/>
            <p:nvPr/>
          </p:nvSpPr>
          <p:spPr>
            <a:xfrm>
              <a:off x="0" y="9525"/>
              <a:ext cx="2472218" cy="915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47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139" name="Google Shape;139;p47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7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7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47"/>
          <p:cNvGrpSpPr/>
          <p:nvPr/>
        </p:nvGrpSpPr>
        <p:grpSpPr>
          <a:xfrm>
            <a:off x="17413457" y="9574140"/>
            <a:ext cx="1385804" cy="1150557"/>
            <a:chOff x="0" y="0"/>
            <a:chExt cx="364985" cy="303027"/>
          </a:xfrm>
        </p:grpSpPr>
        <p:sp>
          <p:nvSpPr>
            <p:cNvPr id="143" name="Google Shape;143;p47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7"/>
            <p:cNvSpPr txBox="1"/>
            <p:nvPr/>
          </p:nvSpPr>
          <p:spPr>
            <a:xfrm>
              <a:off x="0" y="19050"/>
              <a:ext cx="364985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5" name="Google Shape;145;p47" descr="A black background with white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6408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7"/>
          <p:cNvSpPr txBox="1">
            <a:spLocks noGrp="1"/>
          </p:cNvSpPr>
          <p:nvPr>
            <p:ph type="title"/>
          </p:nvPr>
        </p:nvSpPr>
        <p:spPr>
          <a:xfrm>
            <a:off x="874563" y="2134496"/>
            <a:ext cx="8850838" cy="13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 sz="8000" b="1" i="0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7"/>
          <p:cNvSpPr txBox="1">
            <a:spLocks noGrp="1"/>
          </p:cNvSpPr>
          <p:nvPr>
            <p:ph type="subTitle" idx="1"/>
          </p:nvPr>
        </p:nvSpPr>
        <p:spPr>
          <a:xfrm>
            <a:off x="874562" y="3503542"/>
            <a:ext cx="8850838" cy="18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100"/>
              <a:buNone/>
              <a:defRPr sz="2100" b="0" i="0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8" name="Google Shape;148;p47"/>
          <p:cNvSpPr txBox="1"/>
          <p:nvPr/>
        </p:nvSpPr>
        <p:spPr>
          <a:xfrm>
            <a:off x="1489717" y="5971785"/>
            <a:ext cx="8235600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172F57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9" name="Google Shape;149;p47"/>
          <p:cNvSpPr txBox="1"/>
          <p:nvPr/>
        </p:nvSpPr>
        <p:spPr>
          <a:xfrm>
            <a:off x="1240322" y="7059542"/>
            <a:ext cx="8850838" cy="18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1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7"/>
          <p:cNvSpPr txBox="1">
            <a:spLocks noGrp="1"/>
          </p:cNvSpPr>
          <p:nvPr>
            <p:ph type="body" idx="2"/>
          </p:nvPr>
        </p:nvSpPr>
        <p:spPr>
          <a:xfrm>
            <a:off x="1489698" y="5967535"/>
            <a:ext cx="8235600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3000"/>
              <a:buNone/>
              <a:defRPr sz="3000" b="1" i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1" name="Google Shape;151;p47"/>
          <p:cNvSpPr txBox="1">
            <a:spLocks noGrp="1"/>
          </p:cNvSpPr>
          <p:nvPr>
            <p:ph type="body" idx="3"/>
          </p:nvPr>
        </p:nvSpPr>
        <p:spPr>
          <a:xfrm>
            <a:off x="1489699" y="6774735"/>
            <a:ext cx="8235600" cy="225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100"/>
              <a:buNone/>
              <a:defRPr sz="2100"/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2" name="Google Shape;152;p47"/>
          <p:cNvSpPr txBox="1">
            <a:spLocks noGrp="1"/>
          </p:cNvSpPr>
          <p:nvPr>
            <p:ph type="body" idx="4"/>
          </p:nvPr>
        </p:nvSpPr>
        <p:spPr>
          <a:xfrm>
            <a:off x="11064083" y="2663278"/>
            <a:ext cx="5348449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 i="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3" name="Google Shape;153;p47"/>
          <p:cNvSpPr txBox="1">
            <a:spLocks noGrp="1"/>
          </p:cNvSpPr>
          <p:nvPr>
            <p:ph type="body" idx="5"/>
          </p:nvPr>
        </p:nvSpPr>
        <p:spPr>
          <a:xfrm>
            <a:off x="11068038" y="3320749"/>
            <a:ext cx="6533487" cy="570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47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5" name="Google Shape;155;p47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156" name="Google Shape;156;p47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7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" name="Google Shape;158;p47" descr="A logo with a person in the middle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mbar dan Konten">
  <p:cSld name="Gambar dan Konte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8"/>
          <p:cNvSpPr txBox="1"/>
          <p:nvPr/>
        </p:nvSpPr>
        <p:spPr>
          <a:xfrm>
            <a:off x="9575855" y="7776326"/>
            <a:ext cx="7334961" cy="102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8"/>
              <a:buFont typeface="Arial"/>
              <a:buNone/>
            </a:pPr>
            <a:r>
              <a:rPr lang="en-US" sz="1948" b="0" i="0" u="none" strike="noStrike" cap="none">
                <a:solidFill>
                  <a:srgbClr val="FFFCF7"/>
                </a:solidFill>
                <a:latin typeface="Raleway"/>
                <a:ea typeface="Raleway"/>
                <a:cs typeface="Raleway"/>
                <a:sym typeface="Raleway"/>
              </a:rPr>
              <a:t>Lorem ipsum dolor sit amet, consectetur adipiscing elit. Quisque molestie nisl eu sem tristique, sit amet convallis ex aliquam. Maecenas varius lectus hendrerit augue blandit, ut posuere erat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8"/>
          <p:cNvSpPr txBox="1"/>
          <p:nvPr/>
        </p:nvSpPr>
        <p:spPr>
          <a:xfrm>
            <a:off x="9575855" y="7331337"/>
            <a:ext cx="55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CF7"/>
                </a:solidFill>
                <a:latin typeface="Raleway Black"/>
                <a:ea typeface="Raleway Black"/>
                <a:cs typeface="Raleway Black"/>
                <a:sym typeface="Raleway Black"/>
              </a:rPr>
              <a:t>Poin C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8"/>
          <p:cNvSpPr txBox="1"/>
          <p:nvPr/>
        </p:nvSpPr>
        <p:spPr>
          <a:xfrm>
            <a:off x="9575855" y="2561463"/>
            <a:ext cx="7334961" cy="102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8"/>
              <a:buFont typeface="Arial"/>
              <a:buNone/>
            </a:pPr>
            <a:r>
              <a:rPr lang="en-US" sz="1948" b="0" i="0" u="none" strike="noStrike" cap="none">
                <a:solidFill>
                  <a:srgbClr val="FFFCF7"/>
                </a:solidFill>
                <a:latin typeface="Raleway"/>
                <a:ea typeface="Raleway"/>
                <a:cs typeface="Raleway"/>
                <a:sym typeface="Raleway"/>
              </a:rPr>
              <a:t>Lorem ipsum dolor sit amet, consectetur adipiscing elit. Quisque molestie nisl eu sem tristique, sit amet convallis ex aliquam. Maecenas varius lectus hendrerit augue blandit, ut posuere erat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8"/>
          <p:cNvSpPr txBox="1"/>
          <p:nvPr/>
        </p:nvSpPr>
        <p:spPr>
          <a:xfrm>
            <a:off x="9575855" y="2116474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aleway Black"/>
                <a:ea typeface="Raleway Black"/>
                <a:cs typeface="Raleway Black"/>
                <a:sym typeface="Raleway Black"/>
              </a:rPr>
              <a:t>Poin A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8"/>
          <p:cNvSpPr txBox="1"/>
          <p:nvPr/>
        </p:nvSpPr>
        <p:spPr>
          <a:xfrm>
            <a:off x="9575855" y="5166797"/>
            <a:ext cx="7334961" cy="102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8"/>
              <a:buFont typeface="Arial"/>
              <a:buNone/>
            </a:pPr>
            <a:r>
              <a:rPr lang="en-US" sz="1948" b="0" i="0" u="none" strike="noStrike" cap="none">
                <a:solidFill>
                  <a:srgbClr val="FFFCF7"/>
                </a:solidFill>
                <a:latin typeface="Raleway"/>
                <a:ea typeface="Raleway"/>
                <a:cs typeface="Raleway"/>
                <a:sym typeface="Raleway"/>
              </a:rPr>
              <a:t>Lorem ipsum dolor sit amet, consectetur adipiscing elit. Quisque molestie nisl eu sem tristique, sit amet convallis ex aliquam. Maecenas varius lectus hendrerit augue blandit, ut posuere erat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8"/>
          <p:cNvSpPr txBox="1"/>
          <p:nvPr/>
        </p:nvSpPr>
        <p:spPr>
          <a:xfrm>
            <a:off x="9575855" y="4721809"/>
            <a:ext cx="5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CF7"/>
                </a:solidFill>
                <a:latin typeface="Raleway Black"/>
                <a:ea typeface="Raleway Black"/>
                <a:cs typeface="Raleway Black"/>
                <a:sym typeface="Raleway Black"/>
              </a:rPr>
              <a:t>Poin B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48"/>
          <p:cNvGrpSpPr/>
          <p:nvPr/>
        </p:nvGrpSpPr>
        <p:grpSpPr>
          <a:xfrm>
            <a:off x="17413457" y="9574140"/>
            <a:ext cx="1385804" cy="1150557"/>
            <a:chOff x="0" y="0"/>
            <a:chExt cx="364985" cy="303027"/>
          </a:xfrm>
        </p:grpSpPr>
        <p:sp>
          <p:nvSpPr>
            <p:cNvPr id="167" name="Google Shape;167;p48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48"/>
            <p:cNvSpPr txBox="1"/>
            <p:nvPr/>
          </p:nvSpPr>
          <p:spPr>
            <a:xfrm>
              <a:off x="0" y="19050"/>
              <a:ext cx="364985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48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170" name="Google Shape;170;p48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48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48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48" descr="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747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8"/>
          <p:cNvSpPr txBox="1">
            <a:spLocks noGrp="1"/>
          </p:cNvSpPr>
          <p:nvPr>
            <p:ph type="title"/>
          </p:nvPr>
        </p:nvSpPr>
        <p:spPr>
          <a:xfrm>
            <a:off x="874563" y="1524902"/>
            <a:ext cx="7374067" cy="135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 sz="8000" b="1" i="0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8"/>
          <p:cNvSpPr>
            <a:spLocks noGrp="1"/>
          </p:cNvSpPr>
          <p:nvPr>
            <p:ph type="pic" idx="2"/>
          </p:nvPr>
        </p:nvSpPr>
        <p:spPr>
          <a:xfrm>
            <a:off x="21761" y="3397579"/>
            <a:ext cx="8226869" cy="6176561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48"/>
          <p:cNvSpPr txBox="1">
            <a:spLocks noGrp="1"/>
          </p:cNvSpPr>
          <p:nvPr>
            <p:ph type="body" idx="1"/>
          </p:nvPr>
        </p:nvSpPr>
        <p:spPr>
          <a:xfrm>
            <a:off x="9145096" y="1664578"/>
            <a:ext cx="8114203" cy="762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48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" name="Google Shape;178;p48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179" name="Google Shape;179;p48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48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1" name="Google Shape;181;p48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 dan Gambar">
  <p:cSld name="Teks dan Gamba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9"/>
          <p:cNvSpPr>
            <a:spLocks noGrp="1"/>
          </p:cNvSpPr>
          <p:nvPr>
            <p:ph type="pic" idx="2"/>
          </p:nvPr>
        </p:nvSpPr>
        <p:spPr>
          <a:xfrm>
            <a:off x="10766555" y="0"/>
            <a:ext cx="7520303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49"/>
          <p:cNvSpPr txBox="1">
            <a:spLocks noGrp="1"/>
          </p:cNvSpPr>
          <p:nvPr>
            <p:ph type="title"/>
          </p:nvPr>
        </p:nvSpPr>
        <p:spPr>
          <a:xfrm>
            <a:off x="1095889" y="2217889"/>
            <a:ext cx="8641965" cy="121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5" name="Google Shape;185;p49"/>
          <p:cNvGrpSpPr/>
          <p:nvPr/>
        </p:nvGrpSpPr>
        <p:grpSpPr>
          <a:xfrm>
            <a:off x="1028700" y="5934212"/>
            <a:ext cx="9737855" cy="3324088"/>
            <a:chOff x="0" y="0"/>
            <a:chExt cx="2374098" cy="810416"/>
          </a:xfrm>
        </p:grpSpPr>
        <p:sp>
          <p:nvSpPr>
            <p:cNvPr id="186" name="Google Shape;186;p49"/>
            <p:cNvSpPr/>
            <p:nvPr/>
          </p:nvSpPr>
          <p:spPr>
            <a:xfrm>
              <a:off x="0" y="0"/>
              <a:ext cx="2374098" cy="810416"/>
            </a:xfrm>
            <a:custGeom>
              <a:avLst/>
              <a:gdLst/>
              <a:ahLst/>
              <a:cxnLst/>
              <a:rect l="l" t="t" r="r" b="b"/>
              <a:pathLst>
                <a:path w="2374098" h="810416" extrusionOk="0">
                  <a:moveTo>
                    <a:pt x="0" y="0"/>
                  </a:moveTo>
                  <a:lnTo>
                    <a:pt x="2374098" y="0"/>
                  </a:lnTo>
                  <a:lnTo>
                    <a:pt x="2374098" y="810416"/>
                  </a:lnTo>
                  <a:lnTo>
                    <a:pt x="0" y="810416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49"/>
            <p:cNvSpPr txBox="1"/>
            <p:nvPr/>
          </p:nvSpPr>
          <p:spPr>
            <a:xfrm>
              <a:off x="0" y="9525"/>
              <a:ext cx="2374098" cy="800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49"/>
          <p:cNvGrpSpPr/>
          <p:nvPr/>
        </p:nvGrpSpPr>
        <p:grpSpPr>
          <a:xfrm>
            <a:off x="9737855" y="4889221"/>
            <a:ext cx="1028700" cy="1044992"/>
            <a:chOff x="0" y="0"/>
            <a:chExt cx="250798" cy="254770"/>
          </a:xfrm>
        </p:grpSpPr>
        <p:sp>
          <p:nvSpPr>
            <p:cNvPr id="189" name="Google Shape;189;p49"/>
            <p:cNvSpPr/>
            <p:nvPr/>
          </p:nvSpPr>
          <p:spPr>
            <a:xfrm>
              <a:off x="0" y="0"/>
              <a:ext cx="250798" cy="254770"/>
            </a:xfrm>
            <a:custGeom>
              <a:avLst/>
              <a:gdLst/>
              <a:ahLst/>
              <a:cxnLst/>
              <a:rect l="l" t="t" r="r" b="b"/>
              <a:pathLst>
                <a:path w="250798" h="254770" extrusionOk="0">
                  <a:moveTo>
                    <a:pt x="0" y="0"/>
                  </a:moveTo>
                  <a:lnTo>
                    <a:pt x="250798" y="0"/>
                  </a:lnTo>
                  <a:lnTo>
                    <a:pt x="250798" y="254770"/>
                  </a:lnTo>
                  <a:lnTo>
                    <a:pt x="0" y="254770"/>
                  </a:lnTo>
                  <a:close/>
                </a:path>
              </a:pathLst>
            </a:custGeom>
            <a:solidFill>
              <a:srgbClr val="0E7AC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49"/>
            <p:cNvSpPr txBox="1"/>
            <p:nvPr/>
          </p:nvSpPr>
          <p:spPr>
            <a:xfrm>
              <a:off x="0" y="9525"/>
              <a:ext cx="250798" cy="245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49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192" name="Google Shape;192;p49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49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49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9"/>
          <p:cNvSpPr txBox="1"/>
          <p:nvPr/>
        </p:nvSpPr>
        <p:spPr>
          <a:xfrm>
            <a:off x="11559484" y="9808621"/>
            <a:ext cx="5699816" cy="3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9"/>
          <p:cNvSpPr txBox="1">
            <a:spLocks noGrp="1"/>
          </p:cNvSpPr>
          <p:nvPr>
            <p:ph type="subTitle" idx="1"/>
          </p:nvPr>
        </p:nvSpPr>
        <p:spPr>
          <a:xfrm>
            <a:off x="1028700" y="3545913"/>
            <a:ext cx="8196752" cy="18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100"/>
              <a:buNone/>
              <a:defRPr sz="2100" b="0" i="0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7" name="Google Shape;197;p49"/>
          <p:cNvSpPr txBox="1">
            <a:spLocks noGrp="1"/>
          </p:cNvSpPr>
          <p:nvPr>
            <p:ph type="body" idx="3"/>
          </p:nvPr>
        </p:nvSpPr>
        <p:spPr>
          <a:xfrm>
            <a:off x="1614909" y="6292655"/>
            <a:ext cx="7610543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3000"/>
              <a:buNone/>
              <a:defRPr sz="3000" b="1" i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8" name="Google Shape;198;p49"/>
          <p:cNvSpPr txBox="1">
            <a:spLocks noGrp="1"/>
          </p:cNvSpPr>
          <p:nvPr>
            <p:ph type="body" idx="4"/>
          </p:nvPr>
        </p:nvSpPr>
        <p:spPr>
          <a:xfrm>
            <a:off x="1614909" y="7144867"/>
            <a:ext cx="8122945" cy="16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100"/>
              <a:buNone/>
              <a:defRPr sz="2100"/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99" name="Google Shape;199;p49" descr="Blu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8202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49"/>
          <p:cNvGrpSpPr/>
          <p:nvPr/>
        </p:nvGrpSpPr>
        <p:grpSpPr>
          <a:xfrm>
            <a:off x="17413457" y="9574140"/>
            <a:ext cx="1385804" cy="1150557"/>
            <a:chOff x="0" y="0"/>
            <a:chExt cx="364985" cy="303027"/>
          </a:xfrm>
        </p:grpSpPr>
        <p:sp>
          <p:nvSpPr>
            <p:cNvPr id="201" name="Google Shape;201;p49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49"/>
            <p:cNvSpPr txBox="1"/>
            <p:nvPr/>
          </p:nvSpPr>
          <p:spPr>
            <a:xfrm>
              <a:off x="0" y="19050"/>
              <a:ext cx="364985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49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4" name="Google Shape;204;p49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205" name="Google Shape;205;p49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49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7" name="Google Shape;207;p49" descr="A logo with a person in the middle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bandingan Tekstual">
  <p:cSld name="Perbandingan Tekstual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0"/>
          <p:cNvSpPr txBox="1">
            <a:spLocks noGrp="1"/>
          </p:cNvSpPr>
          <p:nvPr>
            <p:ph type="title"/>
          </p:nvPr>
        </p:nvSpPr>
        <p:spPr>
          <a:xfrm>
            <a:off x="1257300" y="2383076"/>
            <a:ext cx="15773400" cy="128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0" name="Google Shape;210;p50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 flipH="1">
            <a:off x="11384201" y="2155122"/>
            <a:ext cx="6533487" cy="8571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50"/>
          <p:cNvGrpSpPr/>
          <p:nvPr/>
        </p:nvGrpSpPr>
        <p:grpSpPr>
          <a:xfrm>
            <a:off x="1028700" y="4468690"/>
            <a:ext cx="7968674" cy="3944625"/>
            <a:chOff x="0" y="0"/>
            <a:chExt cx="1942770" cy="961703"/>
          </a:xfrm>
        </p:grpSpPr>
        <p:sp>
          <p:nvSpPr>
            <p:cNvPr id="212" name="Google Shape;212;p50"/>
            <p:cNvSpPr/>
            <p:nvPr/>
          </p:nvSpPr>
          <p:spPr>
            <a:xfrm>
              <a:off x="0" y="0"/>
              <a:ext cx="1942770" cy="961703"/>
            </a:xfrm>
            <a:custGeom>
              <a:avLst/>
              <a:gdLst/>
              <a:ahLst/>
              <a:cxnLst/>
              <a:rect l="l" t="t" r="r" b="b"/>
              <a:pathLst>
                <a:path w="1942770" h="961703" extrusionOk="0">
                  <a:moveTo>
                    <a:pt x="0" y="0"/>
                  </a:moveTo>
                  <a:lnTo>
                    <a:pt x="1942770" y="0"/>
                  </a:lnTo>
                  <a:lnTo>
                    <a:pt x="1942770" y="961703"/>
                  </a:lnTo>
                  <a:lnTo>
                    <a:pt x="0" y="961703"/>
                  </a:ln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0"/>
            <p:cNvSpPr txBox="1"/>
            <p:nvPr/>
          </p:nvSpPr>
          <p:spPr>
            <a:xfrm>
              <a:off x="0" y="9525"/>
              <a:ext cx="1942770" cy="952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50"/>
          <p:cNvGrpSpPr/>
          <p:nvPr/>
        </p:nvGrpSpPr>
        <p:grpSpPr>
          <a:xfrm>
            <a:off x="2828529" y="3987203"/>
            <a:ext cx="4369015" cy="962972"/>
            <a:chOff x="0" y="0"/>
            <a:chExt cx="1150687" cy="253622"/>
          </a:xfrm>
        </p:grpSpPr>
        <p:sp>
          <p:nvSpPr>
            <p:cNvPr id="215" name="Google Shape;215;p50"/>
            <p:cNvSpPr/>
            <p:nvPr/>
          </p:nvSpPr>
          <p:spPr>
            <a:xfrm>
              <a:off x="0" y="0"/>
              <a:ext cx="1150687" cy="253622"/>
            </a:xfrm>
            <a:custGeom>
              <a:avLst/>
              <a:gdLst/>
              <a:ahLst/>
              <a:cxnLst/>
              <a:rect l="l" t="t" r="r" b="b"/>
              <a:pathLst>
                <a:path w="1150687" h="253622" extrusionOk="0">
                  <a:moveTo>
                    <a:pt x="126811" y="0"/>
                  </a:moveTo>
                  <a:lnTo>
                    <a:pt x="1023876" y="0"/>
                  </a:lnTo>
                  <a:cubicBezTo>
                    <a:pt x="1093912" y="0"/>
                    <a:pt x="1150687" y="56775"/>
                    <a:pt x="1150687" y="126811"/>
                  </a:cubicBezTo>
                  <a:lnTo>
                    <a:pt x="1150687" y="126811"/>
                  </a:lnTo>
                  <a:cubicBezTo>
                    <a:pt x="1150687" y="196847"/>
                    <a:pt x="1093912" y="253622"/>
                    <a:pt x="1023876" y="253622"/>
                  </a:cubicBezTo>
                  <a:lnTo>
                    <a:pt x="126811" y="253622"/>
                  </a:lnTo>
                  <a:cubicBezTo>
                    <a:pt x="56775" y="253622"/>
                    <a:pt x="0" y="196847"/>
                    <a:pt x="0" y="126811"/>
                  </a:cubicBezTo>
                  <a:lnTo>
                    <a:pt x="0" y="126811"/>
                  </a:lnTo>
                  <a:cubicBezTo>
                    <a:pt x="0" y="56775"/>
                    <a:pt x="56775" y="0"/>
                    <a:pt x="126811" y="0"/>
                  </a:cubicBez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0"/>
            <p:cNvSpPr txBox="1"/>
            <p:nvPr/>
          </p:nvSpPr>
          <p:spPr>
            <a:xfrm>
              <a:off x="0" y="19050"/>
              <a:ext cx="1150687" cy="234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50"/>
          <p:cNvGrpSpPr/>
          <p:nvPr/>
        </p:nvGrpSpPr>
        <p:grpSpPr>
          <a:xfrm>
            <a:off x="9290626" y="4468690"/>
            <a:ext cx="7968674" cy="3944625"/>
            <a:chOff x="0" y="0"/>
            <a:chExt cx="1942770" cy="961703"/>
          </a:xfrm>
        </p:grpSpPr>
        <p:sp>
          <p:nvSpPr>
            <p:cNvPr id="218" name="Google Shape;218;p50"/>
            <p:cNvSpPr/>
            <p:nvPr/>
          </p:nvSpPr>
          <p:spPr>
            <a:xfrm>
              <a:off x="0" y="0"/>
              <a:ext cx="1942770" cy="961703"/>
            </a:xfrm>
            <a:custGeom>
              <a:avLst/>
              <a:gdLst/>
              <a:ahLst/>
              <a:cxnLst/>
              <a:rect l="l" t="t" r="r" b="b"/>
              <a:pathLst>
                <a:path w="1942770" h="961703" extrusionOk="0">
                  <a:moveTo>
                    <a:pt x="0" y="0"/>
                  </a:moveTo>
                  <a:lnTo>
                    <a:pt x="1942770" y="0"/>
                  </a:lnTo>
                  <a:lnTo>
                    <a:pt x="1942770" y="961703"/>
                  </a:lnTo>
                  <a:lnTo>
                    <a:pt x="0" y="961703"/>
                  </a:ln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0"/>
            <p:cNvSpPr txBox="1"/>
            <p:nvPr/>
          </p:nvSpPr>
          <p:spPr>
            <a:xfrm>
              <a:off x="0" y="9525"/>
              <a:ext cx="1942770" cy="952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50"/>
          <p:cNvGrpSpPr/>
          <p:nvPr/>
        </p:nvGrpSpPr>
        <p:grpSpPr>
          <a:xfrm>
            <a:off x="11090455" y="3987203"/>
            <a:ext cx="4369015" cy="962972"/>
            <a:chOff x="0" y="0"/>
            <a:chExt cx="1150687" cy="253622"/>
          </a:xfrm>
        </p:grpSpPr>
        <p:sp>
          <p:nvSpPr>
            <p:cNvPr id="221" name="Google Shape;221;p50"/>
            <p:cNvSpPr/>
            <p:nvPr/>
          </p:nvSpPr>
          <p:spPr>
            <a:xfrm>
              <a:off x="0" y="0"/>
              <a:ext cx="1150687" cy="253622"/>
            </a:xfrm>
            <a:custGeom>
              <a:avLst/>
              <a:gdLst/>
              <a:ahLst/>
              <a:cxnLst/>
              <a:rect l="l" t="t" r="r" b="b"/>
              <a:pathLst>
                <a:path w="1150687" h="253622" extrusionOk="0">
                  <a:moveTo>
                    <a:pt x="126811" y="0"/>
                  </a:moveTo>
                  <a:lnTo>
                    <a:pt x="1023876" y="0"/>
                  </a:lnTo>
                  <a:cubicBezTo>
                    <a:pt x="1093912" y="0"/>
                    <a:pt x="1150687" y="56775"/>
                    <a:pt x="1150687" y="126811"/>
                  </a:cubicBezTo>
                  <a:lnTo>
                    <a:pt x="1150687" y="126811"/>
                  </a:lnTo>
                  <a:cubicBezTo>
                    <a:pt x="1150687" y="196847"/>
                    <a:pt x="1093912" y="253622"/>
                    <a:pt x="1023876" y="253622"/>
                  </a:cubicBezTo>
                  <a:lnTo>
                    <a:pt x="126811" y="253622"/>
                  </a:lnTo>
                  <a:cubicBezTo>
                    <a:pt x="56775" y="253622"/>
                    <a:pt x="0" y="196847"/>
                    <a:pt x="0" y="126811"/>
                  </a:cubicBezTo>
                  <a:lnTo>
                    <a:pt x="0" y="126811"/>
                  </a:lnTo>
                  <a:cubicBezTo>
                    <a:pt x="0" y="56775"/>
                    <a:pt x="56775" y="0"/>
                    <a:pt x="126811" y="0"/>
                  </a:cubicBez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0"/>
            <p:cNvSpPr txBox="1"/>
            <p:nvPr/>
          </p:nvSpPr>
          <p:spPr>
            <a:xfrm>
              <a:off x="0" y="19050"/>
              <a:ext cx="1150687" cy="234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50"/>
          <p:cNvGrpSpPr/>
          <p:nvPr/>
        </p:nvGrpSpPr>
        <p:grpSpPr>
          <a:xfrm>
            <a:off x="-532104" y="9574140"/>
            <a:ext cx="9347714" cy="1150557"/>
            <a:chOff x="0" y="0"/>
            <a:chExt cx="2461949" cy="303027"/>
          </a:xfrm>
        </p:grpSpPr>
        <p:sp>
          <p:nvSpPr>
            <p:cNvPr id="224" name="Google Shape;224;p50"/>
            <p:cNvSpPr/>
            <p:nvPr/>
          </p:nvSpPr>
          <p:spPr>
            <a:xfrm>
              <a:off x="0" y="0"/>
              <a:ext cx="2461949" cy="303027"/>
            </a:xfrm>
            <a:custGeom>
              <a:avLst/>
              <a:gdLst/>
              <a:ahLst/>
              <a:cxnLst/>
              <a:rect l="l" t="t" r="r" b="b"/>
              <a:pathLst>
                <a:path w="2461949" h="303027" extrusionOk="0">
                  <a:moveTo>
                    <a:pt x="82822" y="0"/>
                  </a:moveTo>
                  <a:lnTo>
                    <a:pt x="2379128" y="0"/>
                  </a:lnTo>
                  <a:cubicBezTo>
                    <a:pt x="2401093" y="0"/>
                    <a:pt x="2422160" y="8726"/>
                    <a:pt x="2437692" y="24258"/>
                  </a:cubicBezTo>
                  <a:cubicBezTo>
                    <a:pt x="2453224" y="39790"/>
                    <a:pt x="2461949" y="60856"/>
                    <a:pt x="2461949" y="82822"/>
                  </a:cubicBezTo>
                  <a:lnTo>
                    <a:pt x="2461949" y="220206"/>
                  </a:lnTo>
                  <a:cubicBezTo>
                    <a:pt x="2461949" y="242171"/>
                    <a:pt x="2453224" y="263237"/>
                    <a:pt x="2437692" y="278769"/>
                  </a:cubicBezTo>
                  <a:cubicBezTo>
                    <a:pt x="2422160" y="294301"/>
                    <a:pt x="2401093" y="303027"/>
                    <a:pt x="2379128" y="303027"/>
                  </a:cubicBezTo>
                  <a:lnTo>
                    <a:pt x="82822" y="303027"/>
                  </a:lnTo>
                  <a:cubicBezTo>
                    <a:pt x="60856" y="303027"/>
                    <a:pt x="39790" y="294301"/>
                    <a:pt x="24258" y="278769"/>
                  </a:cubicBezTo>
                  <a:cubicBezTo>
                    <a:pt x="8726" y="263237"/>
                    <a:pt x="0" y="242171"/>
                    <a:pt x="0" y="220206"/>
                  </a:cubicBezTo>
                  <a:lnTo>
                    <a:pt x="0" y="82822"/>
                  </a:lnTo>
                  <a:cubicBezTo>
                    <a:pt x="0" y="60856"/>
                    <a:pt x="8726" y="39790"/>
                    <a:pt x="24258" y="24258"/>
                  </a:cubicBezTo>
                  <a:cubicBezTo>
                    <a:pt x="39790" y="8726"/>
                    <a:pt x="60856" y="0"/>
                    <a:pt x="82822" y="0"/>
                  </a:cubicBezTo>
                  <a:close/>
                </a:path>
              </a:pathLst>
            </a:custGeom>
            <a:solidFill>
              <a:srgbClr val="0F7B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0"/>
            <p:cNvSpPr txBox="1"/>
            <p:nvPr/>
          </p:nvSpPr>
          <p:spPr>
            <a:xfrm>
              <a:off x="0" y="19050"/>
              <a:ext cx="2461949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50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50"/>
          <p:cNvGrpSpPr/>
          <p:nvPr/>
        </p:nvGrpSpPr>
        <p:grpSpPr>
          <a:xfrm>
            <a:off x="17413457" y="9574140"/>
            <a:ext cx="1385804" cy="1150557"/>
            <a:chOff x="0" y="0"/>
            <a:chExt cx="364985" cy="303027"/>
          </a:xfrm>
        </p:grpSpPr>
        <p:sp>
          <p:nvSpPr>
            <p:cNvPr id="228" name="Google Shape;228;p50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50"/>
            <p:cNvSpPr txBox="1"/>
            <p:nvPr/>
          </p:nvSpPr>
          <p:spPr>
            <a:xfrm>
              <a:off x="0" y="19050"/>
              <a:ext cx="364985" cy="2839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50"/>
          <p:cNvSpPr txBox="1"/>
          <p:nvPr/>
        </p:nvSpPr>
        <p:spPr>
          <a:xfrm>
            <a:off x="11559484" y="9808621"/>
            <a:ext cx="5699816" cy="3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0E7AC0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0"/>
          <p:cNvSpPr/>
          <p:nvPr/>
        </p:nvSpPr>
        <p:spPr>
          <a:xfrm rot="5400000" flipH="1">
            <a:off x="16120099" y="-24177"/>
            <a:ext cx="2143723" cy="2192078"/>
          </a:xfrm>
          <a:custGeom>
            <a:avLst/>
            <a:gdLst/>
            <a:ahLst/>
            <a:cxnLst/>
            <a:rect l="l" t="t" r="r" b="b"/>
            <a:pathLst>
              <a:path w="2143723" h="2192078" extrusionOk="0">
                <a:moveTo>
                  <a:pt x="0" y="2192078"/>
                </a:moveTo>
                <a:lnTo>
                  <a:pt x="2143724" y="2192078"/>
                </a:lnTo>
                <a:lnTo>
                  <a:pt x="2143724" y="0"/>
                </a:lnTo>
                <a:lnTo>
                  <a:pt x="0" y="0"/>
                </a:lnTo>
                <a:lnTo>
                  <a:pt x="0" y="219207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0"/>
          <p:cNvSpPr txBox="1">
            <a:spLocks noGrp="1"/>
          </p:cNvSpPr>
          <p:nvPr>
            <p:ph type="body" idx="1"/>
          </p:nvPr>
        </p:nvSpPr>
        <p:spPr>
          <a:xfrm>
            <a:off x="3181459" y="4180340"/>
            <a:ext cx="3650949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3" name="Google Shape;233;p50"/>
          <p:cNvSpPr txBox="1">
            <a:spLocks noGrp="1"/>
          </p:cNvSpPr>
          <p:nvPr>
            <p:ph type="body" idx="2"/>
          </p:nvPr>
        </p:nvSpPr>
        <p:spPr>
          <a:xfrm>
            <a:off x="1368860" y="5189526"/>
            <a:ext cx="7263378" cy="271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body" idx="3"/>
          </p:nvPr>
        </p:nvSpPr>
        <p:spPr>
          <a:xfrm>
            <a:off x="11384201" y="4223009"/>
            <a:ext cx="3650949" cy="49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 i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5" name="Google Shape;235;p50"/>
          <p:cNvSpPr txBox="1">
            <a:spLocks noGrp="1"/>
          </p:cNvSpPr>
          <p:nvPr>
            <p:ph type="body" idx="4"/>
          </p:nvPr>
        </p:nvSpPr>
        <p:spPr>
          <a:xfrm>
            <a:off x="9643273" y="5196426"/>
            <a:ext cx="7263378" cy="271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36" name="Google Shape;236;p50" descr="Blue text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23627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0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8" name="Google Shape;238;p50"/>
          <p:cNvGrpSpPr/>
          <p:nvPr/>
        </p:nvGrpSpPr>
        <p:grpSpPr>
          <a:xfrm>
            <a:off x="899598" y="447951"/>
            <a:ext cx="2936454" cy="798144"/>
            <a:chOff x="899598" y="447951"/>
            <a:chExt cx="2936454" cy="798144"/>
          </a:xfrm>
        </p:grpSpPr>
        <p:sp>
          <p:nvSpPr>
            <p:cNvPr id="239" name="Google Shape;239;p50"/>
            <p:cNvSpPr/>
            <p:nvPr/>
          </p:nvSpPr>
          <p:spPr>
            <a:xfrm>
              <a:off x="899598" y="6657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50"/>
            <p:cNvSpPr/>
            <p:nvPr/>
          </p:nvSpPr>
          <p:spPr>
            <a:xfrm>
              <a:off x="3181459" y="5894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1" name="Google Shape;241;p50" descr="A logo with a person in the middle&#10;&#10;AI-generated content may be incorrect.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5303" y="447951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song" type="blank">
  <p:cSld name="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1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bg>
      <p:bgPr>
        <a:solidFill>
          <a:srgbClr val="107BC2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45" y="-610574"/>
            <a:ext cx="18288000" cy="1370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2"/>
          <p:cNvSpPr/>
          <p:nvPr/>
        </p:nvSpPr>
        <p:spPr>
          <a:xfrm>
            <a:off x="72" y="-256600"/>
            <a:ext cx="10915560" cy="10565032"/>
          </a:xfrm>
          <a:custGeom>
            <a:avLst/>
            <a:gdLst/>
            <a:ahLst/>
            <a:cxnLst/>
            <a:rect l="l" t="t" r="r" b="b"/>
            <a:pathLst>
              <a:path w="1819260" h="2782102" extrusionOk="0">
                <a:moveTo>
                  <a:pt x="0" y="0"/>
                </a:moveTo>
                <a:lnTo>
                  <a:pt x="1819260" y="0"/>
                </a:lnTo>
                <a:lnTo>
                  <a:pt x="1819260" y="2782102"/>
                </a:lnTo>
                <a:lnTo>
                  <a:pt x="0" y="2782102"/>
                </a:lnTo>
                <a:close/>
              </a:path>
            </a:pathLst>
          </a:custGeom>
          <a:gradFill>
            <a:gsLst>
              <a:gs pos="0">
                <a:srgbClr val="0F7BC1"/>
              </a:gs>
              <a:gs pos="50000">
                <a:srgbClr val="0F7BC1"/>
              </a:gs>
              <a:gs pos="100000">
                <a:srgbClr val="0F7BC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2"/>
          <p:cNvSpPr/>
          <p:nvPr/>
        </p:nvSpPr>
        <p:spPr>
          <a:xfrm>
            <a:off x="-532104" y="9574140"/>
            <a:ext cx="9349251" cy="1150745"/>
          </a:xfrm>
          <a:custGeom>
            <a:avLst/>
            <a:gdLst/>
            <a:ahLst/>
            <a:cxnLst/>
            <a:rect l="l" t="t" r="r" b="b"/>
            <a:pathLst>
              <a:path w="2461949" h="303027" extrusionOk="0">
                <a:moveTo>
                  <a:pt x="82822" y="0"/>
                </a:moveTo>
                <a:lnTo>
                  <a:pt x="2379128" y="0"/>
                </a:lnTo>
                <a:cubicBezTo>
                  <a:pt x="2401093" y="0"/>
                  <a:pt x="2422160" y="8726"/>
                  <a:pt x="2437692" y="24258"/>
                </a:cubicBezTo>
                <a:cubicBezTo>
                  <a:pt x="2453224" y="39790"/>
                  <a:pt x="2461949" y="60856"/>
                  <a:pt x="2461949" y="82822"/>
                </a:cubicBezTo>
                <a:lnTo>
                  <a:pt x="2461949" y="220206"/>
                </a:lnTo>
                <a:cubicBezTo>
                  <a:pt x="2461949" y="242171"/>
                  <a:pt x="2453224" y="263237"/>
                  <a:pt x="2437692" y="278769"/>
                </a:cubicBezTo>
                <a:cubicBezTo>
                  <a:pt x="2422160" y="294301"/>
                  <a:pt x="2401093" y="303027"/>
                  <a:pt x="2379128" y="303027"/>
                </a:cubicBezTo>
                <a:lnTo>
                  <a:pt x="82822" y="303027"/>
                </a:lnTo>
                <a:cubicBezTo>
                  <a:pt x="60856" y="303027"/>
                  <a:pt x="39790" y="294301"/>
                  <a:pt x="24258" y="278769"/>
                </a:cubicBezTo>
                <a:cubicBezTo>
                  <a:pt x="8726" y="263237"/>
                  <a:pt x="0" y="242171"/>
                  <a:pt x="0" y="220206"/>
                </a:cubicBezTo>
                <a:lnTo>
                  <a:pt x="0" y="82822"/>
                </a:lnTo>
                <a:cubicBezTo>
                  <a:pt x="0" y="60856"/>
                  <a:pt x="8726" y="39790"/>
                  <a:pt x="24258" y="24258"/>
                </a:cubicBezTo>
                <a:cubicBezTo>
                  <a:pt x="39790" y="8726"/>
                  <a:pt x="60856" y="0"/>
                  <a:pt x="828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2"/>
          <p:cNvSpPr txBox="1"/>
          <p:nvPr/>
        </p:nvSpPr>
        <p:spPr>
          <a:xfrm>
            <a:off x="-532104" y="9646471"/>
            <a:ext cx="93477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32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2"/>
          <p:cNvSpPr/>
          <p:nvPr/>
        </p:nvSpPr>
        <p:spPr>
          <a:xfrm>
            <a:off x="1028700" y="9801213"/>
            <a:ext cx="7341002" cy="302816"/>
          </a:xfrm>
          <a:custGeom>
            <a:avLst/>
            <a:gdLst/>
            <a:ahLst/>
            <a:cxnLst/>
            <a:rect l="l" t="t" r="r" b="b"/>
            <a:pathLst>
              <a:path w="7341002" h="302816" extrusionOk="0">
                <a:moveTo>
                  <a:pt x="0" y="0"/>
                </a:moveTo>
                <a:lnTo>
                  <a:pt x="7341002" y="0"/>
                </a:lnTo>
                <a:lnTo>
                  <a:pt x="7341002" y="302817"/>
                </a:lnTo>
                <a:lnTo>
                  <a:pt x="0" y="302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52"/>
          <p:cNvGrpSpPr/>
          <p:nvPr/>
        </p:nvGrpSpPr>
        <p:grpSpPr>
          <a:xfrm>
            <a:off x="17413457" y="9574140"/>
            <a:ext cx="1386248" cy="1151030"/>
            <a:chOff x="0" y="0"/>
            <a:chExt cx="365100" cy="303150"/>
          </a:xfrm>
        </p:grpSpPr>
        <p:sp>
          <p:nvSpPr>
            <p:cNvPr id="251" name="Google Shape;251;p52"/>
            <p:cNvSpPr/>
            <p:nvPr/>
          </p:nvSpPr>
          <p:spPr>
            <a:xfrm>
              <a:off x="0" y="0"/>
              <a:ext cx="364985" cy="303027"/>
            </a:xfrm>
            <a:custGeom>
              <a:avLst/>
              <a:gdLst/>
              <a:ahLst/>
              <a:cxnLst/>
              <a:rect l="l" t="t" r="r" b="b"/>
              <a:pathLst>
                <a:path w="364985" h="303027" extrusionOk="0">
                  <a:moveTo>
                    <a:pt x="0" y="0"/>
                  </a:moveTo>
                  <a:lnTo>
                    <a:pt x="364985" y="0"/>
                  </a:lnTo>
                  <a:lnTo>
                    <a:pt x="364985" y="303027"/>
                  </a:lnTo>
                  <a:lnTo>
                    <a:pt x="0" y="303027"/>
                  </a:lnTo>
                  <a:close/>
                </a:path>
              </a:pathLst>
            </a:custGeom>
            <a:solidFill>
              <a:srgbClr val="FCB9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52"/>
            <p:cNvSpPr txBox="1"/>
            <p:nvPr/>
          </p:nvSpPr>
          <p:spPr>
            <a:xfrm>
              <a:off x="0" y="19050"/>
              <a:ext cx="3651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52"/>
          <p:cNvSpPr txBox="1"/>
          <p:nvPr/>
        </p:nvSpPr>
        <p:spPr>
          <a:xfrm>
            <a:off x="11559484" y="9808621"/>
            <a:ext cx="569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Arial"/>
              <a:buNone/>
            </a:pPr>
            <a:r>
              <a:rPr lang="en-US" sz="2201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Institut Teknologi Sepuluh Nopember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0" y="7308362"/>
            <a:ext cx="2218327" cy="226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 flipH="1">
            <a:off x="16044654" y="-25018"/>
            <a:ext cx="2218327" cy="226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2" descr="A black background with white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64083" y="574937"/>
            <a:ext cx="3683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2"/>
          <p:cNvSpPr txBox="1">
            <a:spLocks noGrp="1"/>
          </p:cNvSpPr>
          <p:nvPr>
            <p:ph type="body" idx="1"/>
          </p:nvPr>
        </p:nvSpPr>
        <p:spPr>
          <a:xfrm>
            <a:off x="3829052" y="3525888"/>
            <a:ext cx="10507324" cy="271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8" name="Google Shape;258;p52"/>
          <p:cNvSpPr txBox="1">
            <a:spLocks noGrp="1"/>
          </p:cNvSpPr>
          <p:nvPr>
            <p:ph type="sldNum" idx="12"/>
          </p:nvPr>
        </p:nvSpPr>
        <p:spPr>
          <a:xfrm>
            <a:off x="13880099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9" name="Google Shape;259;p52"/>
          <p:cNvGrpSpPr/>
          <p:nvPr/>
        </p:nvGrpSpPr>
        <p:grpSpPr>
          <a:xfrm>
            <a:off x="892598" y="425213"/>
            <a:ext cx="2936454" cy="798182"/>
            <a:chOff x="892598" y="425213"/>
            <a:chExt cx="2936454" cy="798182"/>
          </a:xfrm>
        </p:grpSpPr>
        <p:sp>
          <p:nvSpPr>
            <p:cNvPr id="260" name="Google Shape;260;p52"/>
            <p:cNvSpPr/>
            <p:nvPr/>
          </p:nvSpPr>
          <p:spPr>
            <a:xfrm>
              <a:off x="892598" y="643080"/>
              <a:ext cx="938524" cy="580315"/>
            </a:xfrm>
            <a:custGeom>
              <a:avLst/>
              <a:gdLst/>
              <a:ahLst/>
              <a:cxnLst/>
              <a:rect l="l" t="t" r="r" b="b"/>
              <a:pathLst>
                <a:path w="1251365" h="773753" extrusionOk="0">
                  <a:moveTo>
                    <a:pt x="0" y="0"/>
                  </a:moveTo>
                  <a:lnTo>
                    <a:pt x="1251365" y="0"/>
                  </a:lnTo>
                  <a:lnTo>
                    <a:pt x="1251365" y="773753"/>
                  </a:lnTo>
                  <a:lnTo>
                    <a:pt x="0" y="7737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52"/>
            <p:cNvSpPr/>
            <p:nvPr/>
          </p:nvSpPr>
          <p:spPr>
            <a:xfrm>
              <a:off x="3174459" y="566772"/>
              <a:ext cx="654593" cy="654593"/>
            </a:xfrm>
            <a:custGeom>
              <a:avLst/>
              <a:gdLst/>
              <a:ahLst/>
              <a:cxnLst/>
              <a:rect l="l" t="t" r="r" b="b"/>
              <a:pathLst>
                <a:path w="872790" h="872790" extrusionOk="0">
                  <a:moveTo>
                    <a:pt x="0" y="0"/>
                  </a:moveTo>
                  <a:lnTo>
                    <a:pt x="872790" y="0"/>
                  </a:lnTo>
                  <a:lnTo>
                    <a:pt x="872790" y="872790"/>
                  </a:lnTo>
                  <a:lnTo>
                    <a:pt x="0" y="8727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2" name="Google Shape;262;p52" descr="A logo with a person in a hat&#10;&#10;AI-generated content may be incorrect.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88303" y="425213"/>
              <a:ext cx="939600" cy="7961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8000"/>
              <a:buFont typeface="Raleway Black"/>
              <a:buNone/>
              <a:defRPr sz="8000" b="1" i="0" u="none" strike="noStrike" cap="none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72F57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172F5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2248" y="1815912"/>
            <a:ext cx="12649768" cy="3548825"/>
          </a:xfrm>
        </p:spPr>
        <p:txBody>
          <a:bodyPr>
            <a:noAutofit/>
          </a:bodyPr>
          <a:lstStyle/>
          <a:p>
            <a:pPr algn="just"/>
            <a:r>
              <a:rPr lang="id-ID" sz="4000" dirty="0"/>
              <a:t>EVALUASI FITUR </a:t>
            </a:r>
            <a:r>
              <a:rPr lang="id-ID" sz="4000" i="1" dirty="0"/>
              <a:t>HANDCRAFTED</a:t>
            </a:r>
            <a:r>
              <a:rPr lang="id-ID" sz="4000" dirty="0"/>
              <a:t> DAN MODEL </a:t>
            </a:r>
            <a:r>
              <a:rPr lang="id-ID" sz="4000" i="1" dirty="0"/>
              <a:t>SPEECH</a:t>
            </a:r>
            <a:r>
              <a:rPr lang="id-ID" sz="4000" dirty="0"/>
              <a:t> PRALATIH UNTUK ESTIMASI KEPRIBADIAN BIG FIVE BERBASIS AUDIO DENGAN PROTOKOL </a:t>
            </a:r>
            <a:r>
              <a:rPr lang="id-ID" sz="4000" i="1" dirty="0"/>
              <a:t>STRICT SPLIT</a:t>
            </a:r>
            <a:r>
              <a:rPr lang="id-ID" sz="4000" dirty="0"/>
              <a:t> DAN ADAPTASI LoRA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400" b="1" dirty="0">
                <a:solidFill>
                  <a:srgbClr val="0A2B54"/>
                </a:solidFill>
                <a:latin typeface="Arial"/>
              </a:rPr>
              <a:t>Muhammad Aqil Farrukh – NRP 5025221158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6591" y="6903720"/>
            <a:ext cx="11786889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 dirty="0" err="1">
                <a:solidFill>
                  <a:schemeClr val="tx1"/>
                </a:solidFill>
                <a:latin typeface="Arial"/>
              </a:rPr>
              <a:t>Pembimbing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: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Shintami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Chusnul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Hidayati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,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S.Kom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., M.Sc.,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Ph.D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
Ko-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pembimbing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: Dini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Adni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Navastara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, </a:t>
            </a:r>
            <a:r>
              <a:rPr sz="2800" b="1" dirty="0" err="1">
                <a:solidFill>
                  <a:schemeClr val="tx1"/>
                </a:solidFill>
                <a:latin typeface="Arial"/>
              </a:rPr>
              <a:t>S.Kom</a:t>
            </a:r>
            <a:r>
              <a:rPr sz="2800" b="1" dirty="0">
                <a:solidFill>
                  <a:schemeClr val="tx1"/>
                </a:solidFill>
                <a:latin typeface="Arial"/>
              </a:rPr>
              <a:t>., M.Sc.</a:t>
            </a:r>
          </a:p>
        </p:txBody>
      </p:sp>
      <p:pic>
        <p:nvPicPr>
          <p:cNvPr id="4" name="Picture 3" descr="Manajemen Cerdas Informasi · GitHub">
            <a:extLst>
              <a:ext uri="{FF2B5EF4-FFF2-40B4-BE49-F238E27FC236}">
                <a16:creationId xmlns:a16="http://schemas.microsoft.com/office/drawing/2014/main" id="{5A49D8C5-793F-C3E5-10DB-E0D87FA79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37" y="2390572"/>
            <a:ext cx="3776450" cy="3776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4800" dirty="0">
                <a:solidFill>
                  <a:srgbClr val="0A2B54"/>
                </a:solidFill>
                <a:latin typeface="Arial"/>
              </a:rPr>
              <a:t>Latar Belakan</a:t>
            </a:r>
            <a:r>
              <a:rPr lang="en-US" sz="4800" dirty="0">
                <a:solidFill>
                  <a:srgbClr val="0A2B54"/>
                </a:solidFill>
                <a:latin typeface="Arial"/>
              </a:rPr>
              <a:t>g</a:t>
            </a:r>
            <a:br>
              <a:rPr lang="id-ID" sz="4800" dirty="0">
                <a:solidFill>
                  <a:srgbClr val="0A2B54"/>
                </a:solidFill>
                <a:latin typeface="Arial"/>
              </a:rPr>
            </a:br>
            <a:endParaRPr sz="4800" dirty="0"/>
          </a:p>
        </p:txBody>
      </p:sp>
      <p:sp>
        <p:nvSpPr>
          <p:cNvPr id="4" name="Rounded Rectangle 3"/>
          <p:cNvSpPr/>
          <p:nvPr/>
        </p:nvSpPr>
        <p:spPr>
          <a:xfrm>
            <a:off x="771277" y="2773016"/>
            <a:ext cx="5029200" cy="2773017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1277" y="2773017"/>
            <a:ext cx="91440" cy="146304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9877" y="2901033"/>
            <a:ext cx="4275813" cy="84946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Sinyal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suara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membawa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isyarat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paralinguistik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5597" y="3902869"/>
            <a:ext cx="4498450" cy="134190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Cara berbicara, prosodi, dinamika suara, dan kualitas vokal dapat menjadi isyarat untuk menilai </a:t>
            </a:r>
            <a:r>
              <a:rPr lang="id-ID" sz="2000" i="1" dirty="0" err="1"/>
              <a:t>apparent</a:t>
            </a:r>
            <a:r>
              <a:rPr lang="id-ID" sz="2000" i="1" dirty="0"/>
              <a:t> </a:t>
            </a:r>
            <a:r>
              <a:rPr lang="id-ID" sz="2000" i="1" dirty="0" err="1"/>
              <a:t>personality</a:t>
            </a:r>
            <a:r>
              <a:rPr lang="id-ID" sz="2000" dirty="0"/>
              <a:t>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73579" y="6161068"/>
            <a:ext cx="5029200" cy="2773017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3579" y="6161069"/>
            <a:ext cx="91440" cy="1463040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899" y="6289085"/>
            <a:ext cx="4663440" cy="84946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400" b="1" dirty="0">
                <a:solidFill>
                  <a:srgbClr val="0A2B54"/>
                </a:solidFill>
              </a:rPr>
              <a:t>Audio-only personality estimation </a:t>
            </a:r>
            <a:r>
              <a:rPr lang="en-US" sz="2400" b="1" dirty="0" err="1">
                <a:solidFill>
                  <a:srgbClr val="0A2B54"/>
                </a:solidFill>
              </a:rPr>
              <a:t>masih</a:t>
            </a:r>
            <a:r>
              <a:rPr lang="en-US" sz="2400" b="1" dirty="0">
                <a:solidFill>
                  <a:srgbClr val="0A2B54"/>
                </a:solidFill>
              </a:rPr>
              <a:t> </a:t>
            </a:r>
            <a:r>
              <a:rPr lang="en-US" sz="2400" b="1" dirty="0" err="1">
                <a:solidFill>
                  <a:srgbClr val="0A2B54"/>
                </a:solidFill>
              </a:rPr>
              <a:t>menantang</a:t>
            </a:r>
            <a:endParaRPr sz="2400" b="1" dirty="0">
              <a:solidFill>
                <a:srgbClr val="0A2B5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8204" y="7185321"/>
            <a:ext cx="4663440" cy="164968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Prediksi Big </a:t>
            </a:r>
            <a:r>
              <a:rPr lang="id-ID" sz="2000" dirty="0" err="1"/>
              <a:t>Five</a:t>
            </a:r>
            <a:r>
              <a:rPr lang="id-ID" sz="2000" dirty="0"/>
              <a:t> dari suara dipengaruhi variasi pembicara, kondisi rekaman, </a:t>
            </a:r>
            <a:r>
              <a:rPr lang="id-ID" sz="2000" dirty="0" err="1"/>
              <a:t>subjektivitas</a:t>
            </a:r>
            <a:r>
              <a:rPr lang="id-ID" sz="2000" dirty="0"/>
              <a:t> label, dan keterbatasan informasi tanpa visual maupun transkrip.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726187" y="2760584"/>
            <a:ext cx="5315446" cy="2773017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26187" y="2760585"/>
            <a:ext cx="91440" cy="146304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54787" y="2888601"/>
            <a:ext cx="4663440" cy="84946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400" b="1" dirty="0">
                <a:solidFill>
                  <a:srgbClr val="0A2B54"/>
                </a:solidFill>
                <a:latin typeface="Arial"/>
              </a:rPr>
              <a:t>FI-V2 </a:t>
            </a:r>
            <a:r>
              <a:rPr lang="en-US" sz="2400" b="1" dirty="0" err="1">
                <a:solidFill>
                  <a:srgbClr val="0A2B54"/>
                </a:solidFill>
                <a:latin typeface="Arial"/>
              </a:rPr>
              <a:t>relevan</a:t>
            </a:r>
            <a:r>
              <a:rPr lang="en-US"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A2B54"/>
                </a:solidFill>
                <a:latin typeface="Arial"/>
              </a:rPr>
              <a:t>untuk</a:t>
            </a:r>
            <a:r>
              <a:rPr lang="en-US"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A2B54"/>
                </a:solidFill>
                <a:latin typeface="Arial"/>
              </a:rPr>
              <a:t>tugas</a:t>
            </a:r>
            <a:r>
              <a:rPr lang="en-US"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A2B54"/>
                </a:solidFill>
                <a:latin typeface="Arial"/>
              </a:rPr>
              <a:t>regresi</a:t>
            </a:r>
            <a:r>
              <a:rPr lang="en-US" sz="2400" b="1" dirty="0">
                <a:solidFill>
                  <a:srgbClr val="0A2B54"/>
                </a:solidFill>
                <a:latin typeface="Arial"/>
              </a:rPr>
              <a:t> Big Five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00507" y="3833097"/>
            <a:ext cx="5041126" cy="164968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 err="1"/>
              <a:t>ChaLearn</a:t>
            </a:r>
            <a:r>
              <a:rPr lang="id-ID" sz="2000" dirty="0"/>
              <a:t> First </a:t>
            </a:r>
            <a:r>
              <a:rPr lang="id-ID" sz="2000" dirty="0" err="1"/>
              <a:t>Impressions</a:t>
            </a:r>
            <a:r>
              <a:rPr lang="id-ID" sz="2000" dirty="0"/>
              <a:t> V2 menyediakan klip pendek dengan label </a:t>
            </a:r>
            <a:r>
              <a:rPr lang="id-ID" sz="2000" i="1" dirty="0" err="1"/>
              <a:t>apparent</a:t>
            </a:r>
            <a:r>
              <a:rPr lang="id-ID" sz="2000" i="1" dirty="0"/>
              <a:t> </a:t>
            </a:r>
            <a:r>
              <a:rPr lang="id-ID" sz="2000" i="1" dirty="0" err="1"/>
              <a:t>personality</a:t>
            </a:r>
            <a:r>
              <a:rPr lang="id-ID" sz="2000" dirty="0"/>
              <a:t> Big </a:t>
            </a:r>
            <a:r>
              <a:rPr lang="id-ID" sz="2000" dirty="0" err="1"/>
              <a:t>Five</a:t>
            </a:r>
            <a:r>
              <a:rPr lang="id-ID" sz="2000" dirty="0"/>
              <a:t> pada rentang 0–1, sehingga sesuai untuk tugas regresi berbasis audio.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pic>
        <p:nvPicPr>
          <p:cNvPr id="25" name="Picture 24" descr="Suara Manusia Berubah Seiring Bertambahnya Usia, Apa Penyebabnya?">
            <a:extLst>
              <a:ext uri="{FF2B5EF4-FFF2-40B4-BE49-F238E27FC236}">
                <a16:creationId xmlns:a16="http://schemas.microsoft.com/office/drawing/2014/main" id="{684FF0ED-9082-43E9-5CE1-4DCCC0503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97" y="5843810"/>
            <a:ext cx="3884213" cy="2589475"/>
          </a:xfrm>
          <a:prstGeom prst="rect">
            <a:avLst/>
          </a:prstGeom>
        </p:spPr>
      </p:pic>
      <p:pic>
        <p:nvPicPr>
          <p:cNvPr id="26" name="Picture 25" descr="Memahami Tes Big Five Personality | NSD.ID">
            <a:extLst>
              <a:ext uri="{FF2B5EF4-FFF2-40B4-BE49-F238E27FC236}">
                <a16:creationId xmlns:a16="http://schemas.microsoft.com/office/drawing/2014/main" id="{4AAD574F-7845-E3CD-BFA5-68C496B7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494" y="1621658"/>
            <a:ext cx="4257675" cy="4257675"/>
          </a:xfrm>
          <a:prstGeom prst="rect">
            <a:avLst/>
          </a:prstGeom>
        </p:spPr>
      </p:pic>
      <p:pic>
        <p:nvPicPr>
          <p:cNvPr id="27" name="Picture 26" descr="ChaLearn LAP 2016: First Round Challenge on First Impressions - Dataset and  Results | Springer Nature Link">
            <a:extLst>
              <a:ext uri="{FF2B5EF4-FFF2-40B4-BE49-F238E27FC236}">
                <a16:creationId xmlns:a16="http://schemas.microsoft.com/office/drawing/2014/main" id="{31B81D09-746F-0C02-F977-0F3C2734C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853" y="5843810"/>
            <a:ext cx="3721192" cy="42584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0A81A-2596-B186-8F11-4FF68AF5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8EEC04E-B675-45E3-CD12-9ED69864E9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8"/>
          <a:stretch>
            <a:fillRect/>
          </a:stretch>
        </p:blipFill>
        <p:spPr>
          <a:xfrm>
            <a:off x="12036289" y="5536599"/>
            <a:ext cx="5659675" cy="4703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B934B-E267-4C96-ABC0-7D614A33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31" y="2438271"/>
            <a:ext cx="6642215" cy="316158"/>
          </a:xfrm>
        </p:spPr>
        <p:txBody>
          <a:bodyPr>
            <a:noAutofit/>
          </a:bodyPr>
          <a:lstStyle/>
          <a:p>
            <a:r>
              <a:rPr lang="id-ID" sz="4800" dirty="0">
                <a:solidFill>
                  <a:srgbClr val="0A2B54"/>
                </a:solidFill>
                <a:latin typeface="Arial"/>
              </a:rPr>
              <a:t>Masalah Penelitian</a:t>
            </a:r>
            <a:br>
              <a:rPr lang="id-ID" sz="4800" dirty="0">
                <a:solidFill>
                  <a:srgbClr val="0A2B54"/>
                </a:solidFill>
                <a:latin typeface="Arial"/>
              </a:rPr>
            </a:br>
            <a:endParaRPr sz="4800" dirty="0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3EEAE896-A2B3-1A65-5032-D714275028FD}"/>
              </a:ext>
            </a:extLst>
          </p:cNvPr>
          <p:cNvSpPr/>
          <p:nvPr/>
        </p:nvSpPr>
        <p:spPr>
          <a:xfrm>
            <a:off x="437321" y="3023959"/>
            <a:ext cx="5814391" cy="2727917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57F02C-186E-19A7-0FFF-35854E863C11}"/>
              </a:ext>
            </a:extLst>
          </p:cNvPr>
          <p:cNvSpPr/>
          <p:nvPr/>
        </p:nvSpPr>
        <p:spPr>
          <a:xfrm>
            <a:off x="437323" y="3046510"/>
            <a:ext cx="105716" cy="1800333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EAEC2-1135-0F27-FA67-60F0B93F3E5C}"/>
              </a:ext>
            </a:extLst>
          </p:cNvPr>
          <p:cNvSpPr txBox="1"/>
          <p:nvPr/>
        </p:nvSpPr>
        <p:spPr>
          <a:xfrm>
            <a:off x="616063" y="4119022"/>
            <a:ext cx="5391526" cy="134190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i="1" dirty="0" err="1"/>
              <a:t>Official</a:t>
            </a:r>
            <a:r>
              <a:rPr lang="id-ID" sz="2000" i="1" dirty="0"/>
              <a:t> </a:t>
            </a:r>
            <a:r>
              <a:rPr lang="id-ID" sz="2000" i="1" dirty="0" err="1"/>
              <a:t>split</a:t>
            </a:r>
            <a:r>
              <a:rPr lang="id-ID" sz="2000" i="1" dirty="0"/>
              <a:t> </a:t>
            </a:r>
            <a:r>
              <a:rPr lang="id-ID" sz="2000" dirty="0"/>
              <a:t>berpotensi memiliki ketergantungan sumber antar </a:t>
            </a:r>
            <a:r>
              <a:rPr lang="id-ID" sz="2000" dirty="0" err="1"/>
              <a:t>subset</a:t>
            </a:r>
            <a:r>
              <a:rPr lang="id-ID" sz="2000" dirty="0"/>
              <a:t>. Karena itu, </a:t>
            </a:r>
            <a:r>
              <a:rPr lang="id-ID" sz="2000" i="1" dirty="0" err="1"/>
              <a:t>strict</a:t>
            </a:r>
            <a:r>
              <a:rPr lang="id-ID" sz="2000" i="1" dirty="0"/>
              <a:t> </a:t>
            </a:r>
            <a:r>
              <a:rPr lang="id-ID" sz="2000" i="1" dirty="0" err="1"/>
              <a:t>split</a:t>
            </a:r>
            <a:r>
              <a:rPr lang="id-ID" sz="2000" i="1" dirty="0"/>
              <a:t> </a:t>
            </a:r>
            <a:r>
              <a:rPr lang="id-ID" sz="2000" dirty="0"/>
              <a:t>berbasis </a:t>
            </a:r>
            <a:r>
              <a:rPr lang="id-ID" sz="2000" dirty="0" err="1"/>
              <a:t>group_id</a:t>
            </a:r>
            <a:r>
              <a:rPr lang="id-ID" sz="2000" dirty="0"/>
              <a:t> diperlukan agar evaluasi lebih konservatif.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36E8F-4C5E-B8DD-3A1C-5D5AD1149EEA}"/>
              </a:ext>
            </a:extLst>
          </p:cNvPr>
          <p:cNvSpPr txBox="1"/>
          <p:nvPr/>
        </p:nvSpPr>
        <p:spPr>
          <a:xfrm>
            <a:off x="680199" y="3208585"/>
            <a:ext cx="3823492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just"/>
            <a:r>
              <a:rPr lang="id-ID" sz="2400" b="1" dirty="0">
                <a:solidFill>
                  <a:srgbClr val="0A2B54"/>
                </a:solidFill>
                <a:latin typeface="Arial"/>
              </a:rPr>
              <a:t>Evaluasi perlu lebih ketat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320DFA45-49F8-969F-51A6-A690ED993013}"/>
              </a:ext>
            </a:extLst>
          </p:cNvPr>
          <p:cNvSpPr/>
          <p:nvPr/>
        </p:nvSpPr>
        <p:spPr>
          <a:xfrm>
            <a:off x="437322" y="6254558"/>
            <a:ext cx="5814391" cy="2809929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AC0FCC-AFD5-AB63-AA08-68E1F8D933F9}"/>
              </a:ext>
            </a:extLst>
          </p:cNvPr>
          <p:cNvSpPr/>
          <p:nvPr/>
        </p:nvSpPr>
        <p:spPr>
          <a:xfrm>
            <a:off x="437323" y="6254559"/>
            <a:ext cx="101968" cy="1687964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90046-0CF7-EA96-DA4E-97E65566211D}"/>
              </a:ext>
            </a:extLst>
          </p:cNvPr>
          <p:cNvSpPr txBox="1"/>
          <p:nvPr/>
        </p:nvSpPr>
        <p:spPr>
          <a:xfrm>
            <a:off x="711643" y="6483753"/>
            <a:ext cx="2389366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400" b="1" dirty="0">
                <a:solidFill>
                  <a:srgbClr val="0A2B54"/>
                </a:solidFill>
              </a:rPr>
              <a:t>Gap </a:t>
            </a:r>
            <a:r>
              <a:rPr lang="en-US" sz="2400" b="1" dirty="0" err="1">
                <a:solidFill>
                  <a:srgbClr val="0A2B54"/>
                </a:solidFill>
              </a:rPr>
              <a:t>penelitian</a:t>
            </a:r>
            <a:endParaRPr sz="2400" b="1" dirty="0">
              <a:solidFill>
                <a:srgbClr val="0A2B5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452CDC-9E6F-E83D-717D-F383C491336F}"/>
              </a:ext>
            </a:extLst>
          </p:cNvPr>
          <p:cNvSpPr txBox="1"/>
          <p:nvPr/>
        </p:nvSpPr>
        <p:spPr>
          <a:xfrm>
            <a:off x="711643" y="7193079"/>
            <a:ext cx="5200366" cy="164968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Diperlukan evaluasi </a:t>
            </a:r>
            <a:r>
              <a:rPr lang="id-ID" sz="2000" i="1" dirty="0"/>
              <a:t>audio-</a:t>
            </a:r>
            <a:r>
              <a:rPr lang="id-ID" sz="2000" i="1" dirty="0" err="1"/>
              <a:t>only</a:t>
            </a:r>
            <a:r>
              <a:rPr lang="id-ID" sz="2000" dirty="0"/>
              <a:t> yang membandingkan fitur </a:t>
            </a:r>
            <a:r>
              <a:rPr lang="id-ID" sz="2000" i="1" dirty="0" err="1"/>
              <a:t>handcrafted</a:t>
            </a:r>
            <a:r>
              <a:rPr lang="id-ID" sz="2000" dirty="0"/>
              <a:t> dengan </a:t>
            </a:r>
            <a:r>
              <a:rPr lang="id-ID" sz="2000" i="1" dirty="0" err="1"/>
              <a:t>embedding</a:t>
            </a:r>
            <a:r>
              <a:rPr lang="id-ID" sz="2000" dirty="0"/>
              <a:t> </a:t>
            </a:r>
            <a:r>
              <a:rPr lang="id-ID" sz="2000" i="1" dirty="0" err="1"/>
              <a:t>speech</a:t>
            </a:r>
            <a:r>
              <a:rPr lang="id-ID" sz="2000" dirty="0"/>
              <a:t> </a:t>
            </a:r>
            <a:r>
              <a:rPr lang="id-ID" sz="2000" dirty="0" err="1"/>
              <a:t>pralatih</a:t>
            </a:r>
            <a:r>
              <a:rPr lang="id-ID" sz="2000" dirty="0"/>
              <a:t>, lalu menguji apakah adaptasi </a:t>
            </a:r>
            <a:r>
              <a:rPr lang="id-ID" sz="2000" dirty="0" err="1"/>
              <a:t>LoRA</a:t>
            </a:r>
            <a:r>
              <a:rPr lang="id-ID" sz="2000" dirty="0"/>
              <a:t> dapat meningkatkan kinerja </a:t>
            </a:r>
            <a:r>
              <a:rPr lang="id-ID" sz="2000" i="1" dirty="0" err="1"/>
              <a:t>backbone</a:t>
            </a:r>
            <a:r>
              <a:rPr lang="id-ID" sz="2000" dirty="0"/>
              <a:t> terpilih.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F12B2468-A6D4-2938-74F4-9738A5B7C883}"/>
              </a:ext>
            </a:extLst>
          </p:cNvPr>
          <p:cNvSpPr/>
          <p:nvPr/>
        </p:nvSpPr>
        <p:spPr>
          <a:xfrm>
            <a:off x="6720843" y="3001410"/>
            <a:ext cx="5315446" cy="2773017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1CF2D-F191-7486-82E6-33B72AD43FF1}"/>
              </a:ext>
            </a:extLst>
          </p:cNvPr>
          <p:cNvSpPr/>
          <p:nvPr/>
        </p:nvSpPr>
        <p:spPr>
          <a:xfrm>
            <a:off x="6723825" y="3046510"/>
            <a:ext cx="91440" cy="146304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C240D0-790C-A9FA-B11A-9CFD20FD08F7}"/>
              </a:ext>
            </a:extLst>
          </p:cNvPr>
          <p:cNvSpPr txBox="1"/>
          <p:nvPr/>
        </p:nvSpPr>
        <p:spPr>
          <a:xfrm>
            <a:off x="7001126" y="3174526"/>
            <a:ext cx="466344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just"/>
            <a:r>
              <a:rPr lang="en-US" sz="2400" b="1" dirty="0">
                <a:solidFill>
                  <a:srgbClr val="0A2B54"/>
                </a:solidFill>
              </a:rPr>
              <a:t>Strict split </a:t>
            </a:r>
            <a:r>
              <a:rPr lang="en-US" sz="2400" b="1" dirty="0" err="1">
                <a:solidFill>
                  <a:srgbClr val="0A2B54"/>
                </a:solidFill>
              </a:rPr>
              <a:t>berbasis</a:t>
            </a:r>
            <a:r>
              <a:rPr lang="en-US" sz="2400" b="1" dirty="0">
                <a:solidFill>
                  <a:srgbClr val="0A2B54"/>
                </a:solidFill>
              </a:rPr>
              <a:t> </a:t>
            </a:r>
            <a:r>
              <a:rPr lang="en-US" sz="2400" b="1" dirty="0" err="1">
                <a:solidFill>
                  <a:srgbClr val="0A2B54"/>
                </a:solidFill>
              </a:rPr>
              <a:t>group_id</a:t>
            </a:r>
            <a:endParaRPr sz="2400" b="1" dirty="0">
              <a:solidFill>
                <a:srgbClr val="0A2B5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FCD4BC-9092-6855-1F2E-E3171223778C}"/>
              </a:ext>
            </a:extLst>
          </p:cNvPr>
          <p:cNvSpPr txBox="1"/>
          <p:nvPr/>
        </p:nvSpPr>
        <p:spPr>
          <a:xfrm>
            <a:off x="7046846" y="4119022"/>
            <a:ext cx="4663440" cy="134190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Seluruh sampel dari </a:t>
            </a:r>
            <a:r>
              <a:rPr lang="id-ID" sz="2000" i="1" dirty="0" err="1"/>
              <a:t>group_id</a:t>
            </a:r>
            <a:r>
              <a:rPr lang="id-ID" sz="2000" dirty="0"/>
              <a:t> yang sama ditempatkan pada </a:t>
            </a:r>
            <a:r>
              <a:rPr lang="id-ID" sz="2000" dirty="0" err="1"/>
              <a:t>subset</a:t>
            </a:r>
            <a:r>
              <a:rPr lang="id-ID" sz="2000" dirty="0"/>
              <a:t> yang sama. Hasil </a:t>
            </a:r>
            <a:r>
              <a:rPr lang="id-ID" sz="2000" dirty="0" err="1"/>
              <a:t>strict</a:t>
            </a:r>
            <a:r>
              <a:rPr lang="id-ID" sz="2000" dirty="0"/>
              <a:t> </a:t>
            </a:r>
            <a:r>
              <a:rPr lang="id-ID" sz="2000" dirty="0" err="1"/>
              <a:t>split</a:t>
            </a:r>
            <a:r>
              <a:rPr lang="id-ID" sz="2000" dirty="0"/>
              <a:t> menunjukkan </a:t>
            </a:r>
            <a:r>
              <a:rPr lang="id-ID" sz="2000" dirty="0" err="1"/>
              <a:t>overlap</a:t>
            </a:r>
            <a:r>
              <a:rPr lang="id-ID" sz="2000" dirty="0"/>
              <a:t> </a:t>
            </a:r>
            <a:r>
              <a:rPr lang="id-ID" sz="2000" i="1" dirty="0" err="1"/>
              <a:t>group_id</a:t>
            </a:r>
            <a:r>
              <a:rPr lang="id-ID" sz="2000" dirty="0"/>
              <a:t> antar </a:t>
            </a:r>
            <a:r>
              <a:rPr lang="id-ID" sz="2000" dirty="0" err="1"/>
              <a:t>subset</a:t>
            </a:r>
            <a:r>
              <a:rPr lang="id-ID" sz="2000" dirty="0"/>
              <a:t> = 0.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2DE4909-5662-2348-4C41-0DF8ECB4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272"/>
          <a:stretch>
            <a:fillRect/>
          </a:stretch>
        </p:blipFill>
        <p:spPr>
          <a:xfrm>
            <a:off x="12515527" y="1711425"/>
            <a:ext cx="4947876" cy="38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2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5400" dirty="0">
                <a:solidFill>
                  <a:srgbClr val="0A2B54"/>
                </a:solidFill>
                <a:latin typeface="Arial"/>
              </a:rPr>
              <a:t>Rumusan Masalah</a:t>
            </a:r>
            <a:br>
              <a:rPr lang="id-ID" sz="5400" dirty="0">
                <a:solidFill>
                  <a:srgbClr val="0A2B54"/>
                </a:solidFill>
                <a:latin typeface="Arial"/>
              </a:rPr>
            </a:br>
            <a:endParaRPr sz="5400" dirty="0"/>
          </a:p>
        </p:txBody>
      </p:sp>
      <p:sp>
        <p:nvSpPr>
          <p:cNvPr id="4" name="Rounded Rectangle 3"/>
          <p:cNvSpPr/>
          <p:nvPr/>
        </p:nvSpPr>
        <p:spPr>
          <a:xfrm>
            <a:off x="899597" y="2757114"/>
            <a:ext cx="14395837" cy="5818461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9598" y="2757114"/>
            <a:ext cx="91440" cy="521208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7972" y="3690347"/>
            <a:ext cx="13810527" cy="306545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0" dirty="0">
                <a:solidFill>
                  <a:schemeClr val="tx1"/>
                </a:solidFill>
                <a:latin typeface="Arial"/>
              </a:rPr>
              <a:t>1. </a:t>
            </a:r>
            <a:r>
              <a:rPr lang="id-ID" sz="2400" dirty="0">
                <a:solidFill>
                  <a:schemeClr val="tx1"/>
                </a:solidFill>
              </a:rPr>
              <a:t>Bagaimana merancang </a:t>
            </a:r>
            <a:r>
              <a:rPr lang="id-ID" sz="2400" dirty="0" err="1">
                <a:solidFill>
                  <a:schemeClr val="tx1"/>
                </a:solidFill>
              </a:rPr>
              <a:t>pipeline</a:t>
            </a:r>
            <a:r>
              <a:rPr lang="id-ID" sz="2400" dirty="0">
                <a:solidFill>
                  <a:schemeClr val="tx1"/>
                </a:solidFill>
              </a:rPr>
              <a:t> audio-</a:t>
            </a:r>
            <a:r>
              <a:rPr lang="id-ID" sz="2400" dirty="0" err="1">
                <a:solidFill>
                  <a:schemeClr val="tx1"/>
                </a:solidFill>
              </a:rPr>
              <a:t>only</a:t>
            </a:r>
            <a:r>
              <a:rPr lang="id-ID" sz="2400" dirty="0">
                <a:solidFill>
                  <a:schemeClr val="tx1"/>
                </a:solidFill>
              </a:rPr>
              <a:t> dan </a:t>
            </a:r>
            <a:r>
              <a:rPr lang="id-ID" sz="2400" dirty="0" err="1">
                <a:solidFill>
                  <a:schemeClr val="tx1"/>
                </a:solidFill>
              </a:rPr>
              <a:t>strict</a:t>
            </a:r>
            <a:r>
              <a:rPr lang="id-ID" sz="2400" dirty="0">
                <a:solidFill>
                  <a:schemeClr val="tx1"/>
                </a:solidFill>
              </a:rPr>
              <a:t> </a:t>
            </a:r>
            <a:r>
              <a:rPr lang="id-ID" sz="2400" dirty="0" err="1">
                <a:solidFill>
                  <a:schemeClr val="tx1"/>
                </a:solidFill>
              </a:rPr>
              <a:t>split</a:t>
            </a:r>
            <a:r>
              <a:rPr lang="id-ID" sz="2400" dirty="0">
                <a:solidFill>
                  <a:schemeClr val="tx1"/>
                </a:solidFill>
              </a:rPr>
              <a:t> untuk evaluasi Big </a:t>
            </a:r>
            <a:r>
              <a:rPr lang="id-ID" sz="2400" dirty="0" err="1">
                <a:solidFill>
                  <a:schemeClr val="tx1"/>
                </a:solidFill>
              </a:rPr>
              <a:t>Five</a:t>
            </a:r>
            <a:r>
              <a:rPr lang="id-ID" sz="2400" dirty="0">
                <a:solidFill>
                  <a:schemeClr val="tx1"/>
                </a:solidFill>
              </a:rPr>
              <a:t>?</a:t>
            </a:r>
            <a:r>
              <a:rPr sz="2400" b="0" dirty="0">
                <a:solidFill>
                  <a:schemeClr val="tx1"/>
                </a:solidFill>
                <a:latin typeface="Arial"/>
              </a:rPr>
              <a:t>
2. </a:t>
            </a:r>
            <a:r>
              <a:rPr lang="id-ID" sz="2400" b="0" dirty="0">
                <a:solidFill>
                  <a:schemeClr val="tx1"/>
                </a:solidFill>
                <a:latin typeface="Arial"/>
              </a:rPr>
              <a:t>Bagaimana perbandingan kinerja embedding dari backbone pralatih dan fitur handcrafted pada protokol pemisahan data strict split dan non-strict split dengan konfigurasi evaluasi yang sama?</a:t>
            </a:r>
            <a:r>
              <a:rPr sz="2400" b="0" dirty="0">
                <a:solidFill>
                  <a:schemeClr val="tx1"/>
                </a:solidFill>
                <a:latin typeface="Arial"/>
              </a:rPr>
              <a:t>
3. </a:t>
            </a:r>
            <a:r>
              <a:rPr lang="id-ID" sz="2400" b="0" dirty="0">
                <a:solidFill>
                  <a:schemeClr val="tx1"/>
                </a:solidFill>
                <a:latin typeface="Arial"/>
              </a:rPr>
              <a:t>Bagaimana pengaruh adaptasi LoRA pada backbone speech pralatih yang dianalisis pada tahap fine-tuning terhadap kinerja prediksi dibandingkan skema frozen feature extraction, serta bagaimana pola perubahan kinerjanya pada masing-masing dimensi Big Five?</a:t>
            </a:r>
            <a:endParaRPr sz="2400" b="0" dirty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" y="1444752"/>
            <a:ext cx="73036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0A2B54"/>
                </a:solidFill>
                <a:latin typeface="Arial"/>
              </a:rPr>
              <a:t>Alur </a:t>
            </a:r>
            <a:r>
              <a:rPr sz="4400" b="1" dirty="0" err="1">
                <a:solidFill>
                  <a:srgbClr val="0A2B54"/>
                </a:solidFill>
                <a:latin typeface="Arial"/>
              </a:rPr>
              <a:t>Metodologi</a:t>
            </a:r>
            <a:r>
              <a:rPr sz="4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4400" b="1" dirty="0" err="1">
                <a:solidFill>
                  <a:srgbClr val="0A2B54"/>
                </a:solidFill>
                <a:latin typeface="Arial"/>
              </a:rPr>
              <a:t>Penelitian</a:t>
            </a:r>
            <a:endParaRPr sz="4400" b="1" dirty="0">
              <a:solidFill>
                <a:srgbClr val="0A2B54"/>
              </a:solidFill>
              <a:latin typeface="Arial"/>
            </a:endParaRPr>
          </a:p>
        </p:txBody>
      </p:sp>
      <p:pic>
        <p:nvPicPr>
          <p:cNvPr id="4" name="Picture 3" descr="im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72" y="2364395"/>
            <a:ext cx="11086206" cy="6336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17723" y="2679589"/>
            <a:ext cx="5878005" cy="41006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/>
              <a:t>Input: video FI-V2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 err="1"/>
              <a:t>Ekstraksi</a:t>
            </a:r>
            <a:r>
              <a:rPr sz="3200" b="1" dirty="0"/>
              <a:t> audio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 err="1"/>
              <a:t>Praproses</a:t>
            </a:r>
            <a:r>
              <a:rPr sz="3200" b="1" dirty="0"/>
              <a:t> audio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/>
              <a:t>Official split dan strict split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/>
              <a:t>Baseline </a:t>
            </a:r>
            <a:r>
              <a:rPr sz="3200" b="1" dirty="0" err="1"/>
              <a:t>fitur</a:t>
            </a:r>
            <a:r>
              <a:rPr sz="3200" b="1" dirty="0"/>
              <a:t>/model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/>
              <a:t>Fine-tuning LoRA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rgbClr val="0A2B54"/>
                </a:solidFill>
                <a:latin typeface="Arial"/>
              </a:defRPr>
            </a:pPr>
            <a:r>
              <a:rPr sz="3200" b="1" dirty="0"/>
              <a:t>Evaluasi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>
                <a:solidFill>
                  <a:srgbClr val="0A2B54"/>
                </a:solidFill>
                <a:latin typeface="Arial"/>
              </a:rPr>
              <a:t>Dataset dan Skenario Penelitian</a:t>
            </a:r>
            <a:br>
              <a:rPr lang="id-ID" dirty="0">
                <a:solidFill>
                  <a:srgbClr val="0A2B54"/>
                </a:solidFill>
                <a:latin typeface="Arial"/>
              </a:rPr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5544800" cy="541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800" b="1" dirty="0" err="1">
                <a:solidFill>
                  <a:srgbClr val="0A2B54"/>
                </a:solidFill>
                <a:latin typeface="Arial"/>
              </a:rPr>
              <a:t>ChaLearn</a:t>
            </a:r>
            <a:r>
              <a:rPr sz="2800" b="1" dirty="0">
                <a:solidFill>
                  <a:srgbClr val="0A2B54"/>
                </a:solidFill>
                <a:latin typeface="Arial"/>
              </a:rPr>
              <a:t> First Impressions V2 → apparent personality Big Five </a:t>
            </a:r>
            <a:r>
              <a:rPr sz="2800" b="1" dirty="0" err="1">
                <a:solidFill>
                  <a:srgbClr val="0A2B54"/>
                </a:solidFill>
                <a:latin typeface="Arial"/>
              </a:rPr>
              <a:t>berbasis</a:t>
            </a:r>
            <a:r>
              <a:rPr sz="2800" b="1" dirty="0">
                <a:solidFill>
                  <a:srgbClr val="0A2B54"/>
                </a:solidFill>
                <a:latin typeface="Arial"/>
              </a:rPr>
              <a:t> audio-only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988656"/>
              </p:ext>
            </p:extLst>
          </p:nvPr>
        </p:nvGraphicFramePr>
        <p:xfrm>
          <a:off x="709684" y="3147307"/>
          <a:ext cx="8857398" cy="6343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400" dirty="0" err="1"/>
                        <a:t>Komponen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400" dirty="0"/>
                        <a:t>Nilai </a:t>
                      </a:r>
                      <a:r>
                        <a:rPr sz="2400" dirty="0" err="1"/>
                        <a:t>utama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Metadata </a:t>
                      </a:r>
                      <a:r>
                        <a:rPr sz="2400" dirty="0" err="1"/>
                        <a:t>awal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/>
                        <a:t>10.000 klip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9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/>
                        <a:t>Data bersih setelah VAD QC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9.974 </a:t>
                      </a:r>
                      <a:r>
                        <a:rPr sz="2400" dirty="0" err="1"/>
                        <a:t>klip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/>
                        <a:t>Unit strict split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3.054 </a:t>
                      </a:r>
                      <a:r>
                        <a:rPr sz="2400" i="1" dirty="0" err="1"/>
                        <a:t>group_id</a:t>
                      </a:r>
                      <a:endParaRPr sz="2400" i="1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en-US" sz="2400" dirty="0"/>
                        <a:t>Split Official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id-ID" sz="2400" dirty="0"/>
                        <a:t>5.988</a:t>
                      </a:r>
                      <a:r>
                        <a:rPr sz="2400" dirty="0"/>
                        <a:t> train / </a:t>
                      </a:r>
                      <a:r>
                        <a:rPr lang="id-ID" sz="2400" dirty="0"/>
                        <a:t>1.994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val</a:t>
                      </a:r>
                      <a:r>
                        <a:rPr sz="2400" dirty="0"/>
                        <a:t> / </a:t>
                      </a:r>
                      <a:r>
                        <a:rPr lang="id-ID" sz="2400" dirty="0"/>
                        <a:t>1.992</a:t>
                      </a:r>
                      <a:r>
                        <a:rPr sz="2400" dirty="0"/>
                        <a:t> test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289882"/>
                  </a:ext>
                </a:extLst>
              </a:tr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Split strict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5.936 train / 1.999 </a:t>
                      </a:r>
                      <a:r>
                        <a:rPr sz="2400" dirty="0" err="1"/>
                        <a:t>val</a:t>
                      </a:r>
                      <a:r>
                        <a:rPr sz="2400" dirty="0"/>
                        <a:t> / 2.039 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337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/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 dirty="0"/>
                        <a:t>5 trait Big Five, </a:t>
                      </a:r>
                      <a:r>
                        <a:rPr sz="2400" dirty="0" err="1"/>
                        <a:t>nilai</a:t>
                      </a:r>
                      <a:r>
                        <a:rPr sz="2400" dirty="0"/>
                        <a:t> 0-1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9342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400"/>
                        <a:t>Skenario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en-US" sz="2400" dirty="0"/>
                        <a:t>Baseline: official split &amp; strict split</a:t>
                      </a:r>
                    </a:p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en-US" sz="2400" dirty="0" err="1"/>
                        <a:t>LoRA</a:t>
                      </a:r>
                      <a:r>
                        <a:rPr lang="en-US" sz="2400" dirty="0"/>
                        <a:t>: strict split</a:t>
                      </a:r>
                      <a:endParaRPr sz="24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57891" y="4207340"/>
            <a:ext cx="7519917" cy="2861253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7892" y="4207340"/>
            <a:ext cx="108984" cy="2861253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6492" y="4335357"/>
            <a:ext cx="708398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400" b="1" dirty="0">
                <a:solidFill>
                  <a:srgbClr val="0A2B54"/>
                </a:solidFill>
                <a:latin typeface="Arial"/>
              </a:rPr>
              <a:t>S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trict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5859" y="4891222"/>
            <a:ext cx="708398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000" b="1" dirty="0">
                <a:solidFill>
                  <a:srgbClr val="5A6473"/>
                </a:solidFill>
                <a:latin typeface="Arial"/>
              </a:rPr>
              <a:t>Sampel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dari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group_id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yang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sama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tidak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boleh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tersebar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5A6473"/>
                </a:solidFill>
                <a:latin typeface="Arial"/>
              </a:rPr>
              <a:t>antar</a:t>
            </a:r>
            <a:r>
              <a:rPr sz="2000" b="1" dirty="0">
                <a:solidFill>
                  <a:srgbClr val="5A6473"/>
                </a:solidFill>
                <a:latin typeface="Arial"/>
              </a:rPr>
              <a:t> train/validation/test.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7891" y="5853260"/>
            <a:ext cx="7519917" cy="2861253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7892" y="5853260"/>
            <a:ext cx="108984" cy="2861253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86492" y="5981277"/>
            <a:ext cx="708398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>
                <a:solidFill>
                  <a:srgbClr val="0A2B54"/>
                </a:solidFill>
                <a:latin typeface="Arial"/>
              </a:rPr>
              <a:t>audio-only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492" y="6498136"/>
            <a:ext cx="708398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000" b="1" dirty="0">
                <a:solidFill>
                  <a:srgbClr val="5A6473"/>
                </a:solidFill>
              </a:rPr>
              <a:t>H</a:t>
            </a:r>
            <a:r>
              <a:rPr lang="id-ID" sz="2000" b="1" dirty="0" err="1">
                <a:solidFill>
                  <a:srgbClr val="5A6473"/>
                </a:solidFill>
                <a:latin typeface="Arial"/>
              </a:rPr>
              <a:t>anya</a:t>
            </a:r>
            <a:r>
              <a:rPr lang="id-ID" sz="2000" b="1" dirty="0">
                <a:solidFill>
                  <a:srgbClr val="5A6473"/>
                </a:solidFill>
                <a:latin typeface="Arial"/>
              </a:rPr>
              <a:t> menggunakan sinyal suara, tanpa visual dan transkrip.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57891" y="7499180"/>
            <a:ext cx="7519917" cy="1991803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7892" y="7499180"/>
            <a:ext cx="108984" cy="1991803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86492" y="7627197"/>
            <a:ext cx="708398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US" sz="2400" b="1" dirty="0" err="1">
                <a:solidFill>
                  <a:srgbClr val="0A2B54"/>
                </a:solidFill>
              </a:rPr>
              <a:t>R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egresi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6492" y="8163884"/>
            <a:ext cx="7083980" cy="4185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sv-SE" sz="2000" b="1" dirty="0">
                <a:solidFill>
                  <a:srgbClr val="5A6473"/>
                </a:solidFill>
                <a:latin typeface="Arial"/>
              </a:rPr>
              <a:t>label Big Five berupa skor kontinu 0–1.</a:t>
            </a:r>
            <a:endParaRPr sz="2000" b="1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9D1BB-77A7-5C37-35F6-90D5DEEE8F94}"/>
              </a:ext>
            </a:extLst>
          </p:cNvPr>
          <p:cNvSpPr txBox="1"/>
          <p:nvPr/>
        </p:nvSpPr>
        <p:spPr>
          <a:xfrm>
            <a:off x="10779294" y="3443120"/>
            <a:ext cx="6077109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lang="id-ID" sz="4000" b="1" dirty="0">
                <a:solidFill>
                  <a:srgbClr val="0A2B54"/>
                </a:solidFill>
                <a:latin typeface="Arial"/>
              </a:rPr>
              <a:t>Karakteristik Skenario</a:t>
            </a:r>
            <a:endParaRPr sz="4000" b="1" dirty="0">
              <a:solidFill>
                <a:srgbClr val="0A2B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DFF9-8E3C-AB1A-55EE-A94E813E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F4AC-3198-428C-5565-3C989418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13" y="1551809"/>
            <a:ext cx="16470875" cy="129276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0A2B54"/>
                </a:solidFill>
                <a:latin typeface="Arial"/>
              </a:rPr>
              <a:t>Pra-</a:t>
            </a:r>
            <a:r>
              <a:rPr lang="en-US" sz="5400" dirty="0" err="1">
                <a:solidFill>
                  <a:srgbClr val="0A2B54"/>
                </a:solidFill>
                <a:latin typeface="Arial"/>
              </a:rPr>
              <a:t>pemrosesan</a:t>
            </a:r>
            <a:r>
              <a:rPr lang="en-US" sz="5400" dirty="0">
                <a:solidFill>
                  <a:srgbClr val="0A2B54"/>
                </a:solidFill>
                <a:latin typeface="Arial"/>
              </a:rPr>
              <a:t> Audio</a:t>
            </a:r>
            <a:endParaRPr sz="5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ECD50B-C116-C5E8-139F-C75F3C25D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9" y="2785644"/>
            <a:ext cx="7452929" cy="686454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AB5D6FA-0BA7-9B46-D176-2EA06BCE8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210571"/>
              </p:ext>
            </p:extLst>
          </p:nvPr>
        </p:nvGraphicFramePr>
        <p:xfrm>
          <a:off x="8358807" y="3727173"/>
          <a:ext cx="6917635" cy="572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498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3200" dirty="0" err="1"/>
                        <a:t>Tahap</a:t>
                      </a:r>
                      <a:r>
                        <a:rPr sz="3200" dirty="0"/>
                        <a:t> QC</a:t>
                      </a:r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3200"/>
                        <a:t>Jumlah</a:t>
                      </a:r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498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Total </a:t>
                      </a:r>
                      <a:r>
                        <a:rPr sz="3200" dirty="0" err="1"/>
                        <a:t>awal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/>
                        <a:t>10.000 klip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98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Drop VAD </a:t>
                      </a:r>
                      <a:r>
                        <a:rPr sz="3200" dirty="0" err="1"/>
                        <a:t>awal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42 </a:t>
                      </a:r>
                      <a:r>
                        <a:rPr sz="3200" dirty="0" err="1"/>
                        <a:t>klip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498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Drop final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26 </a:t>
                      </a:r>
                      <a:r>
                        <a:rPr sz="3200" dirty="0" err="1"/>
                        <a:t>klip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498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/>
                        <a:t>Total clean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9.974 </a:t>
                      </a:r>
                      <a:r>
                        <a:rPr sz="3200" dirty="0" err="1"/>
                        <a:t>klip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89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013" y="1551809"/>
            <a:ext cx="16470875" cy="129276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0A2B54"/>
                </a:solidFill>
                <a:latin typeface="Arial"/>
              </a:rPr>
              <a:t>Strict Split</a:t>
            </a:r>
            <a:endParaRPr sz="5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4A79A7-4B01-4769-DEE6-FA4930559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200849"/>
              </p:ext>
            </p:extLst>
          </p:nvPr>
        </p:nvGraphicFramePr>
        <p:xfrm>
          <a:off x="9491869" y="3200398"/>
          <a:ext cx="7235688" cy="587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7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4805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3200" dirty="0"/>
                        <a:t>Strict split</a:t>
                      </a:r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3200" dirty="0"/>
                        <a:t>Klip</a:t>
                      </a:r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805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5.936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805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Validation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1.999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805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/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2.039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805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Overlap </a:t>
                      </a:r>
                      <a:r>
                        <a:rPr sz="3200" dirty="0" err="1"/>
                        <a:t>group_id</a:t>
                      </a:r>
                      <a:endParaRPr sz="32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3200" dirty="0"/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EC8E4B96-EE7B-78BF-04D2-405F13FA6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97" y="2844569"/>
            <a:ext cx="8547653" cy="6523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30" y="1921923"/>
            <a:ext cx="8681727" cy="1292760"/>
          </a:xfrm>
        </p:spPr>
        <p:txBody>
          <a:bodyPr>
            <a:noAutofit/>
          </a:bodyPr>
          <a:lstStyle/>
          <a:p>
            <a:r>
              <a:rPr lang="nn-NO" sz="4800" dirty="0">
                <a:solidFill>
                  <a:srgbClr val="0A2B54"/>
                </a:solidFill>
                <a:latin typeface="Arial"/>
              </a:rPr>
              <a:t>Alur Skenario Representasi dan Model</a:t>
            </a:r>
            <a:br>
              <a:rPr lang="nn-NO" sz="4800" dirty="0">
                <a:solidFill>
                  <a:srgbClr val="0A2B54"/>
                </a:solidFill>
                <a:latin typeface="Arial"/>
              </a:rPr>
            </a:br>
            <a:endParaRPr sz="4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1DAD59-6DA6-34D5-03E4-E2BB41384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6190" y="1450296"/>
            <a:ext cx="5973417" cy="8696593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7FF03EB-168B-413E-612E-BEE8AD97A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734264"/>
              </p:ext>
            </p:extLst>
          </p:nvPr>
        </p:nvGraphicFramePr>
        <p:xfrm>
          <a:off x="730630" y="3214683"/>
          <a:ext cx="10817358" cy="6055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477">
                  <a:extLst>
                    <a:ext uri="{9D8B030D-6E8A-4147-A177-3AD203B41FA5}">
                      <a16:colId xmlns:a16="http://schemas.microsoft.com/office/drawing/2014/main" val="3465208780"/>
                    </a:ext>
                  </a:extLst>
                </a:gridCol>
              </a:tblGrid>
              <a:tr h="8241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 err="1"/>
                        <a:t>Metrik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000" dirty="0" err="1"/>
                        <a:t>Makna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ringkas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 sz="2000" dirty="0"/>
                        <a:t>Alasan </a:t>
                      </a:r>
                      <a:r>
                        <a:rPr lang="en-US" sz="2000" dirty="0" err="1"/>
                        <a:t>Digunakan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6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 dirty="0"/>
                        <a:t>Acc(1-MAE)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 dirty="0" err="1"/>
                        <a:t>Metrik</a:t>
                      </a:r>
                      <a:r>
                        <a:rPr sz="2000" dirty="0"/>
                        <a:t> challenge, </a:t>
                      </a:r>
                      <a:r>
                        <a:rPr sz="2000" dirty="0" err="1"/>
                        <a:t>bukan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akurasi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klasifikasi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id-ID" sz="2000" dirty="0"/>
                        <a:t>Digunakan agar hasil dapat dibandingkan dengan penelitian terdahulu pada </a:t>
                      </a:r>
                      <a:r>
                        <a:rPr lang="id-ID" sz="2000" dirty="0" err="1"/>
                        <a:t>ChaLearn</a:t>
                      </a:r>
                      <a:r>
                        <a:rPr lang="id-ID" sz="2000" dirty="0"/>
                        <a:t> FI-V2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64278"/>
                  </a:ext>
                </a:extLst>
              </a:tr>
              <a:tr h="1569293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 dirty="0"/>
                        <a:t>MAE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 dirty="0"/>
                        <a:t>Rata-rata error </a:t>
                      </a:r>
                      <a:r>
                        <a:rPr sz="2000" dirty="0" err="1"/>
                        <a:t>absolut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id-ID" sz="2000" dirty="0"/>
                        <a:t>Dipakai sebagai metrik utama karena label Big </a:t>
                      </a:r>
                      <a:r>
                        <a:rPr lang="id-ID" sz="2000" dirty="0" err="1"/>
                        <a:t>Five</a:t>
                      </a:r>
                      <a:r>
                        <a:rPr lang="id-ID" sz="2000" dirty="0"/>
                        <a:t> berupa skor kontinu 0–1 dan mudah diinterpretasikan sebagai besar </a:t>
                      </a:r>
                      <a:r>
                        <a:rPr lang="id-ID" sz="2000" dirty="0" err="1"/>
                        <a:t>error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6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/>
                        <a:t>RMSE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d-ID" sz="1800" dirty="0" err="1">
                          <a:latin typeface="+mn-lt"/>
                        </a:rPr>
                        <a:t>Error</a:t>
                      </a:r>
                      <a:r>
                        <a:rPr lang="id-ID" sz="1800" dirty="0">
                          <a:latin typeface="+mn-lt"/>
                        </a:rPr>
                        <a:t> kuadrat yang memberi penalti lebih besar pada kesalahan besar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id-ID" sz="2000" dirty="0"/>
                        <a:t>Digunakan untuk melihat apakah model menghasilkan prediksi dengan </a:t>
                      </a:r>
                      <a:r>
                        <a:rPr lang="id-ID" sz="2000" dirty="0" err="1"/>
                        <a:t>error</a:t>
                      </a:r>
                      <a:r>
                        <a:rPr lang="id-ID" sz="2000" dirty="0"/>
                        <a:t> besar pada sebagian sampel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1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/>
                        <a:t>R²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sz="2000" dirty="0" err="1"/>
                        <a:t>Variasi</a:t>
                      </a:r>
                      <a:r>
                        <a:rPr sz="2000" dirty="0"/>
                        <a:t> target yang </a:t>
                      </a:r>
                      <a:r>
                        <a:rPr sz="2000" dirty="0" err="1"/>
                        <a:t>dijelaskan</a:t>
                      </a:r>
                      <a:r>
                        <a:rPr sz="2000" dirty="0"/>
                        <a:t> model</a:t>
                      </a:r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0A2B54"/>
                          </a:solidFill>
                          <a:latin typeface="Arial"/>
                        </a:defRPr>
                      </a:pPr>
                      <a:r>
                        <a:rPr lang="id-ID" sz="2000" dirty="0"/>
                        <a:t>Digunakan untuk menilai kemampuan model menangkap variasi label, bukan hanya menghasilkan prediksi dekat rata-rata</a:t>
                      </a:r>
                      <a:endParaRPr sz="2000" dirty="0"/>
                    </a:p>
                  </a:txBody>
                  <a:tcPr marL="45720" marR="45720" marT="27432" marB="27432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0168-43EF-E3F5-ED06-C92953C1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1586-E337-8EB9-0158-6B108B72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n-NO" sz="4800" dirty="0">
                <a:solidFill>
                  <a:srgbClr val="0A2B54"/>
                </a:solidFill>
                <a:latin typeface="Arial"/>
              </a:rPr>
              <a:t>Skenario Baseline : Official Split dan Strict Split</a:t>
            </a:r>
            <a:br>
              <a:rPr lang="nn-NO" sz="4800" dirty="0">
                <a:solidFill>
                  <a:srgbClr val="0A2B54"/>
                </a:solidFill>
                <a:latin typeface="Arial"/>
              </a:rPr>
            </a:br>
            <a:endParaRPr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B94C3-AE40-2F6F-2C14-CA52E0EE12FA}"/>
              </a:ext>
            </a:extLst>
          </p:cNvPr>
          <p:cNvSpPr txBox="1"/>
          <p:nvPr/>
        </p:nvSpPr>
        <p:spPr>
          <a:xfrm>
            <a:off x="917528" y="2507238"/>
            <a:ext cx="12554635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Semua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skenario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memprediksi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lima trait Big Five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dalam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bentuk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regresi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multi-output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25D7F18-6D05-E866-1E80-3F7F9D34EB46}"/>
              </a:ext>
            </a:extLst>
          </p:cNvPr>
          <p:cNvCxnSpPr>
            <a:cxnSpLocks/>
          </p:cNvCxnSpPr>
          <p:nvPr/>
        </p:nvCxnSpPr>
        <p:spPr>
          <a:xfrm>
            <a:off x="2726762" y="4330063"/>
            <a:ext cx="3101586" cy="0"/>
          </a:xfrm>
          <a:prstGeom prst="line">
            <a:avLst/>
          </a:prstGeom>
          <a:ln w="31750">
            <a:solidFill>
              <a:srgbClr val="008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E4D3CDF-3CB0-283D-B5C4-A3B31E364CAB}"/>
              </a:ext>
            </a:extLst>
          </p:cNvPr>
          <p:cNvCxnSpPr>
            <a:cxnSpLocks/>
          </p:cNvCxnSpPr>
          <p:nvPr/>
        </p:nvCxnSpPr>
        <p:spPr>
          <a:xfrm>
            <a:off x="8670362" y="4330063"/>
            <a:ext cx="3411745" cy="0"/>
          </a:xfrm>
          <a:prstGeom prst="line">
            <a:avLst/>
          </a:prstGeom>
          <a:ln w="31750">
            <a:solidFill>
              <a:srgbClr val="008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9571949-E8DF-66B0-37BB-F685413A0120}"/>
              </a:ext>
            </a:extLst>
          </p:cNvPr>
          <p:cNvCxnSpPr>
            <a:cxnSpLocks/>
          </p:cNvCxnSpPr>
          <p:nvPr/>
        </p:nvCxnSpPr>
        <p:spPr>
          <a:xfrm>
            <a:off x="2743200" y="6583680"/>
            <a:ext cx="3101586" cy="0"/>
          </a:xfrm>
          <a:prstGeom prst="line">
            <a:avLst/>
          </a:prstGeom>
          <a:ln w="31750">
            <a:solidFill>
              <a:srgbClr val="008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168174A8-6600-3281-EAFF-24237632F5CC}"/>
              </a:ext>
            </a:extLst>
          </p:cNvPr>
          <p:cNvCxnSpPr>
            <a:cxnSpLocks/>
          </p:cNvCxnSpPr>
          <p:nvPr/>
        </p:nvCxnSpPr>
        <p:spPr>
          <a:xfrm>
            <a:off x="8686800" y="6583680"/>
            <a:ext cx="3411745" cy="0"/>
          </a:xfrm>
          <a:prstGeom prst="line">
            <a:avLst/>
          </a:prstGeom>
          <a:ln w="31750">
            <a:solidFill>
              <a:srgbClr val="008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7BD137-B3CE-C4A9-8771-82B93D6420E8}"/>
              </a:ext>
            </a:extLst>
          </p:cNvPr>
          <p:cNvSpPr/>
          <p:nvPr/>
        </p:nvSpPr>
        <p:spPr>
          <a:xfrm>
            <a:off x="1080842" y="3781423"/>
            <a:ext cx="2067724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A2B54"/>
                </a:solidFill>
                <a:latin typeface="Arial"/>
              </a:rPr>
              <a:t>Audio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483731-CD0C-85B9-6BA7-2BBF8281F97B}"/>
              </a:ext>
            </a:extLst>
          </p:cNvPr>
          <p:cNvSpPr/>
          <p:nvPr/>
        </p:nvSpPr>
        <p:spPr>
          <a:xfrm>
            <a:off x="5469961" y="3644263"/>
            <a:ext cx="4554237" cy="1371600"/>
          </a:xfrm>
          <a:prstGeom prst="roundRect">
            <a:avLst/>
          </a:prstGeom>
          <a:solidFill>
            <a:srgbClr val="FFEFC2"/>
          </a:solidFill>
          <a:ln>
            <a:solidFill>
              <a:srgbClr val="FFE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A2B54"/>
                </a:solidFill>
                <a:latin typeface="Arial"/>
              </a:rPr>
              <a:t>eGeMAPS
88 fitur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7B1EBC-9B7C-2025-E4AD-CC012CE53A53}"/>
              </a:ext>
            </a:extLst>
          </p:cNvPr>
          <p:cNvSpPr/>
          <p:nvPr/>
        </p:nvSpPr>
        <p:spPr>
          <a:xfrm>
            <a:off x="11687882" y="3644263"/>
            <a:ext cx="4135448" cy="1371600"/>
          </a:xfrm>
          <a:prstGeom prst="roundRect">
            <a:avLst/>
          </a:prstGeom>
          <a:solidFill>
            <a:srgbClr val="E2F4FC"/>
          </a:solidFill>
          <a:ln>
            <a:solidFill>
              <a:srgbClr val="E2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0A2B54"/>
                </a:solidFill>
                <a:latin typeface="Arial"/>
              </a:rPr>
              <a:t>Ridge Regression
Baseline handcrafted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A598331-3B55-BE92-30C0-40E496900C62}"/>
              </a:ext>
            </a:extLst>
          </p:cNvPr>
          <p:cNvSpPr/>
          <p:nvPr/>
        </p:nvSpPr>
        <p:spPr>
          <a:xfrm>
            <a:off x="5486399" y="5897880"/>
            <a:ext cx="4535652" cy="1371600"/>
          </a:xfrm>
          <a:prstGeom prst="roundRect">
            <a:avLst/>
          </a:prstGeom>
          <a:solidFill>
            <a:srgbClr val="E8DFFF"/>
          </a:solidFill>
          <a:ln>
            <a:solidFill>
              <a:srgbClr val="E8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0A2B54"/>
                </a:solidFill>
                <a:latin typeface="Arial"/>
              </a:rPr>
              <a:t>wav2vec2 / </a:t>
            </a:r>
            <a:r>
              <a:rPr sz="2000" b="1" dirty="0" err="1">
                <a:solidFill>
                  <a:srgbClr val="0A2B54"/>
                </a:solidFill>
                <a:latin typeface="Arial"/>
              </a:rPr>
              <a:t>HuBERT</a:t>
            </a:r>
            <a:r>
              <a:rPr sz="2000" b="1" dirty="0">
                <a:solidFill>
                  <a:srgbClr val="0A2B54"/>
                </a:solidFill>
                <a:latin typeface="Arial"/>
              </a:rPr>
              <a:t> / </a:t>
            </a:r>
            <a:r>
              <a:rPr sz="2000" b="1" dirty="0" err="1">
                <a:solidFill>
                  <a:srgbClr val="0A2B54"/>
                </a:solidFill>
                <a:latin typeface="Arial"/>
              </a:rPr>
              <a:t>WavLM</a:t>
            </a:r>
            <a:r>
              <a:rPr sz="2000" b="1" dirty="0">
                <a:solidFill>
                  <a:srgbClr val="0A2B54"/>
                </a:solidFill>
                <a:latin typeface="Arial"/>
              </a:rPr>
              <a:t>
768 embedding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6AA4BD-22C3-D576-E8C7-8A0B934E1D4F}"/>
              </a:ext>
            </a:extLst>
          </p:cNvPr>
          <p:cNvSpPr/>
          <p:nvPr/>
        </p:nvSpPr>
        <p:spPr>
          <a:xfrm>
            <a:off x="11704319" y="5897880"/>
            <a:ext cx="4535651" cy="1371600"/>
          </a:xfrm>
          <a:prstGeom prst="roundRect">
            <a:avLst/>
          </a:prstGeom>
          <a:solidFill>
            <a:srgbClr val="E2F4FC"/>
          </a:solidFill>
          <a:ln>
            <a:solidFill>
              <a:srgbClr val="E2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0A2B54"/>
                </a:solidFill>
                <a:latin typeface="Arial"/>
              </a:rPr>
              <a:t>Ridge baseline
dan </a:t>
            </a:r>
            <a:r>
              <a:rPr sz="2000" b="1" i="1" dirty="0">
                <a:solidFill>
                  <a:srgbClr val="0A2B54"/>
                </a:solidFill>
                <a:latin typeface="Arial"/>
              </a:rPr>
              <a:t>hyperparameter-tuning</a:t>
            </a:r>
            <a:r>
              <a:rPr sz="20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0A2B54"/>
                </a:solidFill>
                <a:latin typeface="Arial"/>
              </a:rPr>
              <a:t>LoRA</a:t>
            </a:r>
            <a:r>
              <a:rPr sz="20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2000" b="1" dirty="0">
                <a:solidFill>
                  <a:srgbClr val="0A2B54"/>
                </a:solidFill>
                <a:latin typeface="Arial"/>
              </a:rPr>
              <a:t>2 backbone </a:t>
            </a:r>
            <a:r>
              <a:rPr lang="en-US" sz="2000" b="1" dirty="0" err="1">
                <a:solidFill>
                  <a:srgbClr val="0A2B54"/>
                </a:solidFill>
                <a:latin typeface="Arial"/>
              </a:rPr>
              <a:t>terbaik</a:t>
            </a:r>
            <a:r>
              <a:rPr lang="en-US" sz="2000" b="1" dirty="0">
                <a:solidFill>
                  <a:srgbClr val="0A2B54"/>
                </a:solidFill>
                <a:latin typeface="Arial"/>
              </a:rPr>
              <a:t> di strict split</a:t>
            </a:r>
            <a:endParaRPr sz="20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82B00F6C-E920-0AC8-7DD6-2362689A6D35}"/>
              </a:ext>
            </a:extLst>
          </p:cNvPr>
          <p:cNvSpPr/>
          <p:nvPr/>
        </p:nvSpPr>
        <p:spPr>
          <a:xfrm>
            <a:off x="1143000" y="5943600"/>
            <a:ext cx="2067724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A2B54"/>
                </a:solidFill>
                <a:latin typeface="Arial"/>
              </a:rPr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368650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1535250"/>
            <a:ext cx="16470875" cy="129276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A2B54"/>
                </a:solidFill>
                <a:latin typeface="Arial"/>
              </a:rPr>
              <a:t>Hasil Utama Baseline (Official Split) </a:t>
            </a:r>
            <a:br>
              <a:rPr lang="en-US" sz="4400" dirty="0">
                <a:solidFill>
                  <a:srgbClr val="0A2B54"/>
                </a:solidFill>
                <a:latin typeface="Arial"/>
              </a:rPr>
            </a:br>
            <a:endParaRPr sz="4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138728"/>
              </p:ext>
            </p:extLst>
          </p:nvPr>
        </p:nvGraphicFramePr>
        <p:xfrm>
          <a:off x="10323871" y="2552660"/>
          <a:ext cx="7585264" cy="3536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626">
                  <a:extLst>
                    <a:ext uri="{9D8B030D-6E8A-4147-A177-3AD203B41FA5}">
                      <a16:colId xmlns:a16="http://schemas.microsoft.com/office/drawing/2014/main" val="2556408912"/>
                    </a:ext>
                  </a:extLst>
                </a:gridCol>
                <a:gridCol w="120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626">
                  <a:extLst>
                    <a:ext uri="{9D8B030D-6E8A-4147-A177-3AD203B41FA5}">
                      <a16:colId xmlns:a16="http://schemas.microsoft.com/office/drawing/2014/main" val="2403478033"/>
                    </a:ext>
                  </a:extLst>
                </a:gridCol>
              </a:tblGrid>
              <a:tr h="707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Metode</a:t>
                      </a:r>
                      <a:endParaRPr lang="id-ID" sz="180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Best </a:t>
                      </a:r>
                      <a:r>
                        <a:rPr lang="id-ID" sz="2000" b="1" i="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alpha</a:t>
                      </a:r>
                      <a:endParaRPr lang="id-ID" sz="2000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Acc</a:t>
                      </a:r>
                      <a:endParaRPr lang="id-ID" sz="180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MAE</a:t>
                      </a:r>
                      <a:endParaRPr lang="id-ID" sz="180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RMSE</a:t>
                      </a:r>
                      <a:endParaRPr lang="id-ID" sz="180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R²</a:t>
                      </a:r>
                      <a:endParaRPr lang="id-ID" sz="180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WavLM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1000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0.903623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0.096377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0.120835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0.313054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HuBERT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0.902526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0.097474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0.121944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0.300851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wav2vec2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0.901239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0.098761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0.123295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0.285255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eGeMAPS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0.895163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0.104837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0.131557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0.188670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166F54A-0BBB-9862-EF58-F8A4B4218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2" y="2331720"/>
            <a:ext cx="9865208" cy="7019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69450C-5DD0-35AD-B355-3E020939C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258" y="6089465"/>
            <a:ext cx="6792609" cy="4013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03D5-D240-7407-B081-0D2C6825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891B-8DE7-EC5A-B4A5-100F4475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3" y="1535250"/>
            <a:ext cx="9250778" cy="129276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A2B54"/>
                </a:solidFill>
                <a:latin typeface="Arial"/>
              </a:rPr>
              <a:t>Hasil Utama Baseline (Strict Split) </a:t>
            </a:r>
            <a:br>
              <a:rPr lang="en-US" sz="4400" dirty="0">
                <a:solidFill>
                  <a:srgbClr val="0A2B54"/>
                </a:solidFill>
                <a:latin typeface="Arial"/>
              </a:rPr>
            </a:br>
            <a:endParaRPr sz="4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2CF05-30D9-E1BC-257A-8BC590700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024112"/>
              </p:ext>
            </p:extLst>
          </p:nvPr>
        </p:nvGraphicFramePr>
        <p:xfrm>
          <a:off x="10477884" y="2609597"/>
          <a:ext cx="7248214" cy="346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232">
                  <a:extLst>
                    <a:ext uri="{9D8B030D-6E8A-4147-A177-3AD203B41FA5}">
                      <a16:colId xmlns:a16="http://schemas.microsoft.com/office/drawing/2014/main" val="3852041668"/>
                    </a:ext>
                  </a:extLst>
                </a:gridCol>
                <a:gridCol w="114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8232">
                  <a:extLst>
                    <a:ext uri="{9D8B030D-6E8A-4147-A177-3AD203B41FA5}">
                      <a16:colId xmlns:a16="http://schemas.microsoft.com/office/drawing/2014/main" val="2403478033"/>
                    </a:ext>
                  </a:extLst>
                </a:gridCol>
              </a:tblGrid>
              <a:tr h="6933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1" i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Metode</a:t>
                      </a:r>
                      <a:endParaRPr lang="id-ID" sz="1800" i="0" dirty="0">
                        <a:solidFill>
                          <a:schemeClr val="bg1"/>
                        </a:solidFill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Best alpha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Acc</a:t>
                      </a:r>
                      <a:endParaRPr lang="id-ID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MAE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RMSE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R²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WavLM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3.000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0,900119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0,099881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0,126029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0,309102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HuBERT</a:t>
                      </a:r>
                      <a:endParaRPr lang="id-ID" sz="2000" b="1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3.000</a:t>
                      </a:r>
                      <a:endParaRPr lang="id-ID" sz="2000" b="1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0,898928</a:t>
                      </a:r>
                      <a:endParaRPr lang="id-ID" sz="2000" b="1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0,101072</a:t>
                      </a:r>
                      <a:endParaRPr lang="id-ID" sz="2000" b="1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0,127392</a:t>
                      </a:r>
                      <a:endParaRPr lang="id-ID" sz="2000" b="1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0,294469</a:t>
                      </a:r>
                      <a:endParaRPr lang="id-ID" sz="2000" b="1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wav2vec2</a:t>
                      </a: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1.000</a:t>
                      </a:r>
                      <a:endParaRPr lang="id-ID" sz="20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0,897850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0,102150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0,128440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0,282504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 err="1">
                          <a:effectLst/>
                          <a:latin typeface="+mj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eGeMAPS</a:t>
                      </a:r>
                      <a:endParaRPr lang="id-ID" sz="2000" dirty="0">
                        <a:effectLst/>
                        <a:latin typeface="+mj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300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0,893506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0,106494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0,133659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000" dirty="0">
                          <a:effectLst/>
                          <a:latin typeface="Times New Roman" panose="020206030504050203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0,224846</a:t>
                      </a:r>
                      <a:endParaRPr lang="id-ID" sz="20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FC5A5AF-29E0-8557-71D1-01C864A1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55" y="2450582"/>
            <a:ext cx="9791466" cy="6966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D18A8-8F0D-A167-7143-BEAB17831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233" y="6089465"/>
            <a:ext cx="6799754" cy="40168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2527BE8-C4FD-0430-E968-8F0013CF56F3}"/>
              </a:ext>
            </a:extLst>
          </p:cNvPr>
          <p:cNvSpPr txBox="1">
            <a:spLocks/>
          </p:cNvSpPr>
          <p:nvPr/>
        </p:nvSpPr>
        <p:spPr>
          <a:xfrm>
            <a:off x="10146890" y="3199109"/>
            <a:ext cx="420343" cy="75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1800"/>
              <a:buFont typeface="Raleway Black"/>
              <a:buNone/>
              <a:defRPr sz="8000" b="1" i="0" u="none" strike="noStrike" cap="none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>
                <a:solidFill>
                  <a:srgbClr val="0A2B54"/>
                </a:solidFill>
                <a:latin typeface="Arial"/>
              </a:rPr>
              <a:t>1</a:t>
            </a:r>
            <a:endParaRPr lang="en-US" sz="4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3D321E-EEB3-FA97-A6F6-E9E73DC9A4D2}"/>
              </a:ext>
            </a:extLst>
          </p:cNvPr>
          <p:cNvSpPr txBox="1">
            <a:spLocks/>
          </p:cNvSpPr>
          <p:nvPr/>
        </p:nvSpPr>
        <p:spPr>
          <a:xfrm>
            <a:off x="10183775" y="3967611"/>
            <a:ext cx="420343" cy="75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F57"/>
              </a:buClr>
              <a:buSzPts val="1800"/>
              <a:buFont typeface="Raleway Black"/>
              <a:buNone/>
              <a:defRPr sz="8000" b="1" i="0" u="none" strike="noStrike" cap="none">
                <a:solidFill>
                  <a:srgbClr val="172F57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>
                <a:solidFill>
                  <a:srgbClr val="0A2B54"/>
                </a:solidFill>
                <a:latin typeface="Arial"/>
              </a:rPr>
              <a:t>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52870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322" y="4858636"/>
            <a:ext cx="6002648" cy="129276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A2B54"/>
                </a:solidFill>
                <a:latin typeface="Arial"/>
              </a:rPr>
              <a:t>Skenario</a:t>
            </a:r>
            <a:r>
              <a:rPr lang="en-US" dirty="0">
                <a:solidFill>
                  <a:srgbClr val="0A2B54"/>
                </a:solidFill>
                <a:latin typeface="Arial"/>
              </a:rPr>
              <a:t> Fine Tuning</a:t>
            </a:r>
            <a:br>
              <a:rPr lang="id-ID" dirty="0">
                <a:solidFill>
                  <a:srgbClr val="0A2B54"/>
                </a:solidFill>
                <a:latin typeface="Arial"/>
              </a:rPr>
            </a:b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A6590D-CB0F-7D10-5320-C3A7F0638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183" y="1423580"/>
            <a:ext cx="10557315" cy="81628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381" y="2510336"/>
            <a:ext cx="16222244" cy="1058110"/>
          </a:xfrm>
        </p:spPr>
        <p:txBody>
          <a:bodyPr>
            <a:noAutofit/>
          </a:bodyPr>
          <a:lstStyle/>
          <a:p>
            <a:r>
              <a:rPr lang="en-US" sz="5400" dirty="0" err="1">
                <a:solidFill>
                  <a:srgbClr val="0A2B54"/>
                </a:solidFill>
                <a:latin typeface="Arial"/>
              </a:rPr>
              <a:t>Pencarian</a:t>
            </a:r>
            <a:r>
              <a:rPr lang="en-US" sz="5400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5400" dirty="0" err="1">
                <a:solidFill>
                  <a:srgbClr val="0A2B54"/>
                </a:solidFill>
                <a:latin typeface="Arial"/>
              </a:rPr>
              <a:t>Optuna</a:t>
            </a:r>
            <a:r>
              <a:rPr lang="en-US" sz="5400" dirty="0">
                <a:solidFill>
                  <a:srgbClr val="0A2B54"/>
                </a:solidFill>
                <a:latin typeface="Arial"/>
              </a:rPr>
              <a:t> </a:t>
            </a:r>
            <a:r>
              <a:rPr lang="en-US" sz="5400" dirty="0" err="1">
                <a:solidFill>
                  <a:srgbClr val="0A2B54"/>
                </a:solidFill>
                <a:latin typeface="Arial"/>
              </a:rPr>
              <a:t>untuk</a:t>
            </a:r>
            <a:r>
              <a:rPr lang="en-US" sz="5400" dirty="0">
                <a:solidFill>
                  <a:srgbClr val="0A2B54"/>
                </a:solidFill>
                <a:latin typeface="Arial"/>
              </a:rPr>
              <a:t> Hyperparameter Tuning</a:t>
            </a:r>
            <a:br>
              <a:rPr lang="id-ID" sz="4400" dirty="0">
                <a:solidFill>
                  <a:srgbClr val="0A2B54"/>
                </a:solidFill>
                <a:latin typeface="Arial"/>
              </a:rPr>
            </a:br>
            <a:endParaRPr sz="4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429068"/>
              </p:ext>
            </p:extLst>
          </p:nvPr>
        </p:nvGraphicFramePr>
        <p:xfrm>
          <a:off x="1469922" y="3828067"/>
          <a:ext cx="7238508" cy="4373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7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Parameter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Ruang pencarian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learning_rate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5e-5 sampai 3e-4, log scale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{4, 8, 16}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lora_alpha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{16, 32, 64}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3439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lora_dropout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{0,00; 0,05; 0,10; 0,15}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weight_decay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1e-4 sampai 2e-2, log </a:t>
                      </a:r>
                      <a:r>
                        <a:rPr lang="id-ID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scale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warmup_ratio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{0,00; 0,03; 0,05; 0,08; 0,10}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755415-03D8-FBA5-214C-7CFDA4872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3163"/>
              </p:ext>
            </p:extLst>
          </p:nvPr>
        </p:nvGraphicFramePr>
        <p:xfrm>
          <a:off x="9144000" y="3828067"/>
          <a:ext cx="6619076" cy="2630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Parameter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Ruang pencarian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008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Jumlah trial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50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Pruner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MedianPruner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Metrik seleksi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 = 1 - </a:t>
                      </a:r>
                      <a:r>
                        <a:rPr lang="id-ID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MAE_mean</a:t>
                      </a:r>
                      <a:r>
                        <a:rPr lang="id-ID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id-ID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val_strict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343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E1CD-67A4-8B53-1042-83BCD267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C472-18FA-04B5-59B7-79587387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816" y="1509600"/>
            <a:ext cx="16470875" cy="1292760"/>
          </a:xfrm>
        </p:spPr>
        <p:txBody>
          <a:bodyPr>
            <a:noAutofit/>
          </a:bodyPr>
          <a:lstStyle/>
          <a:p>
            <a:r>
              <a:rPr lang="id-ID" sz="6000" dirty="0">
                <a:solidFill>
                  <a:srgbClr val="0A2B54"/>
                </a:solidFill>
                <a:latin typeface="Arial"/>
              </a:rPr>
              <a:t>Hasil Utama Fine-tuning / LoRA</a:t>
            </a:r>
            <a:br>
              <a:rPr lang="id-ID" sz="6000" dirty="0">
                <a:solidFill>
                  <a:srgbClr val="0A2B54"/>
                </a:solidFill>
                <a:latin typeface="Arial"/>
              </a:rPr>
            </a:br>
            <a:endParaRPr sz="6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E00B82-FADC-12EA-2CDF-4B5A56078A9C}"/>
              </a:ext>
            </a:extLst>
          </p:cNvPr>
          <p:cNvSpPr/>
          <p:nvPr/>
        </p:nvSpPr>
        <p:spPr>
          <a:xfrm>
            <a:off x="880565" y="7822764"/>
            <a:ext cx="8077427" cy="1495112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EE60E-7630-5B53-A361-963F7436A36B}"/>
              </a:ext>
            </a:extLst>
          </p:cNvPr>
          <p:cNvSpPr/>
          <p:nvPr/>
        </p:nvSpPr>
        <p:spPr>
          <a:xfrm>
            <a:off x="880564" y="7822764"/>
            <a:ext cx="98505" cy="1495112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F9061-6AF2-9940-0A35-94CB20099B85}"/>
              </a:ext>
            </a:extLst>
          </p:cNvPr>
          <p:cNvSpPr txBox="1"/>
          <p:nvPr/>
        </p:nvSpPr>
        <p:spPr>
          <a:xfrm>
            <a:off x="1109165" y="7909560"/>
            <a:ext cx="7683406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Temuan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penting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F1955-E1F9-9217-ADFA-E8577B12B529}"/>
              </a:ext>
            </a:extLst>
          </p:cNvPr>
          <p:cNvSpPr txBox="1"/>
          <p:nvPr/>
        </p:nvSpPr>
        <p:spPr>
          <a:xfrm>
            <a:off x="1109165" y="8389691"/>
            <a:ext cx="7683406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000" b="0" dirty="0" err="1">
                <a:solidFill>
                  <a:srgbClr val="5A6473"/>
                </a:solidFill>
                <a:latin typeface="Arial"/>
              </a:rPr>
              <a:t>WavLM+LoRA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stabil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tetapi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belum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melampaui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WavLM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frozen + Ridge pada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metrik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agregat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strict split.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BC3103-BA99-1582-0882-F318FB869832}"/>
              </a:ext>
            </a:extLst>
          </p:cNvPr>
          <p:cNvSpPr/>
          <p:nvPr/>
        </p:nvSpPr>
        <p:spPr>
          <a:xfrm>
            <a:off x="9293045" y="7822764"/>
            <a:ext cx="8077427" cy="1495112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9F08C-3CAD-053D-F3B3-2FDA25E0CD05}"/>
              </a:ext>
            </a:extLst>
          </p:cNvPr>
          <p:cNvSpPr/>
          <p:nvPr/>
        </p:nvSpPr>
        <p:spPr>
          <a:xfrm>
            <a:off x="9293044" y="7822764"/>
            <a:ext cx="98505" cy="1495112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2B9FB-E9AA-16BE-EC9F-25F1C376CA3A}"/>
              </a:ext>
            </a:extLst>
          </p:cNvPr>
          <p:cNvSpPr txBox="1"/>
          <p:nvPr/>
        </p:nvSpPr>
        <p:spPr>
          <a:xfrm>
            <a:off x="9521645" y="7909560"/>
            <a:ext cx="7683406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>
                <a:solidFill>
                  <a:srgbClr val="0A2B54"/>
                </a:solidFill>
                <a:latin typeface="Arial"/>
              </a:rPr>
              <a:t>Temuan penting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BE5CE-2D8A-BD37-5E62-E7823EB1B70A}"/>
              </a:ext>
            </a:extLst>
          </p:cNvPr>
          <p:cNvSpPr txBox="1"/>
          <p:nvPr/>
        </p:nvSpPr>
        <p:spPr>
          <a:xfrm>
            <a:off x="9521645" y="8389691"/>
            <a:ext cx="7683406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000" b="0" dirty="0" err="1">
                <a:solidFill>
                  <a:srgbClr val="5A6473"/>
                </a:solidFill>
                <a:latin typeface="Arial"/>
              </a:rPr>
              <a:t>HuBERT+LoRA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menjadi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hasil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terbaik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: ensemble 10 runs </a:t>
            </a:r>
            <a:r>
              <a:rPr sz="2000" b="0" dirty="0" err="1">
                <a:solidFill>
                  <a:srgbClr val="5A6473"/>
                </a:solidFill>
                <a:latin typeface="Arial"/>
              </a:rPr>
              <a:t>mencapai</a:t>
            </a:r>
            <a:r>
              <a:rPr sz="2000" b="0" dirty="0">
                <a:solidFill>
                  <a:srgbClr val="5A6473"/>
                </a:solidFill>
                <a:latin typeface="Arial"/>
              </a:rPr>
              <a:t> MAE 0,097698 dan R² 0,335042.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C12EE8C-40BD-1858-563A-4B97D63D7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088345"/>
              </p:ext>
            </p:extLst>
          </p:nvPr>
        </p:nvGraphicFramePr>
        <p:xfrm>
          <a:off x="917528" y="2357812"/>
          <a:ext cx="16409333" cy="53365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9018">
                  <a:extLst>
                    <a:ext uri="{9D8B030D-6E8A-4147-A177-3AD203B41FA5}">
                      <a16:colId xmlns:a16="http://schemas.microsoft.com/office/drawing/2014/main" val="428476904"/>
                    </a:ext>
                  </a:extLst>
                </a:gridCol>
                <a:gridCol w="2580063">
                  <a:extLst>
                    <a:ext uri="{9D8B030D-6E8A-4147-A177-3AD203B41FA5}">
                      <a16:colId xmlns:a16="http://schemas.microsoft.com/office/drawing/2014/main" val="2076294628"/>
                    </a:ext>
                  </a:extLst>
                </a:gridCol>
                <a:gridCol w="2580063">
                  <a:extLst>
                    <a:ext uri="{9D8B030D-6E8A-4147-A177-3AD203B41FA5}">
                      <a16:colId xmlns:a16="http://schemas.microsoft.com/office/drawing/2014/main" val="1556987351"/>
                    </a:ext>
                  </a:extLst>
                </a:gridCol>
                <a:gridCol w="2580063">
                  <a:extLst>
                    <a:ext uri="{9D8B030D-6E8A-4147-A177-3AD203B41FA5}">
                      <a16:colId xmlns:a16="http://schemas.microsoft.com/office/drawing/2014/main" val="3148272789"/>
                    </a:ext>
                  </a:extLst>
                </a:gridCol>
                <a:gridCol w="2580063">
                  <a:extLst>
                    <a:ext uri="{9D8B030D-6E8A-4147-A177-3AD203B41FA5}">
                      <a16:colId xmlns:a16="http://schemas.microsoft.com/office/drawing/2014/main" val="941277234"/>
                    </a:ext>
                  </a:extLst>
                </a:gridCol>
                <a:gridCol w="2580063">
                  <a:extLst>
                    <a:ext uri="{9D8B030D-6E8A-4147-A177-3AD203B41FA5}">
                      <a16:colId xmlns:a16="http://schemas.microsoft.com/office/drawing/2014/main" val="3352185286"/>
                    </a:ext>
                  </a:extLst>
                </a:gridCol>
              </a:tblGrid>
              <a:tr h="44698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Model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Pelaporan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MAE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RMSE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R²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Acc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76455823"/>
                  </a:ext>
                </a:extLst>
              </a:tr>
              <a:tr h="44698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dirty="0" err="1">
                          <a:effectLst/>
                          <a:latin typeface="+mn-lt"/>
                        </a:rPr>
                        <a:t>WavLM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 frozen embedding + Ridge</a:t>
                      </a:r>
                      <a:endParaRPr lang="id-ID" sz="1800" b="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dirty="0" err="1">
                          <a:effectLst/>
                          <a:latin typeface="+mn-lt"/>
                        </a:rPr>
                        <a:t>Baseline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frozen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WavLM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strict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split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0,099881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0,126029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0,309102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0,900119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121572154"/>
                  </a:ext>
                </a:extLst>
              </a:tr>
              <a:tr h="446983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dirty="0" err="1">
                          <a:effectLst/>
                          <a:latin typeface="+mn-lt"/>
                        </a:rPr>
                        <a:t>WavLM+LoRA</a:t>
                      </a:r>
                      <a:endParaRPr lang="id-ID" sz="1800" b="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Mean 10 runs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0,100275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0,126627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0,302657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0,899725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61155733"/>
                  </a:ext>
                </a:extLst>
              </a:tr>
              <a:tr h="446983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Best-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val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run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dirty="0">
                          <a:effectLst/>
                          <a:latin typeface="+mn-lt"/>
                        </a:rPr>
                        <a:t>0,100190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0,126587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0,303067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0,899810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836792214"/>
                  </a:ext>
                </a:extLst>
              </a:tr>
              <a:tr h="446983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Median run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dirty="0">
                          <a:effectLst/>
                          <a:latin typeface="+mn-lt"/>
                        </a:rPr>
                        <a:t>0,100253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0,126471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0,304404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0,899747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718084045"/>
                  </a:ext>
                </a:extLst>
              </a:tr>
              <a:tr h="446983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Ensemble 10 runs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0,100132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0,126450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0,304565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0,899868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09551180"/>
                  </a:ext>
                </a:extLst>
              </a:tr>
              <a:tr h="44698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b="0" dirty="0" err="1">
                          <a:effectLst/>
                          <a:latin typeface="+mn-lt"/>
                        </a:rPr>
                        <a:t>HuBERT</a:t>
                      </a:r>
                      <a:r>
                        <a:rPr lang="id-ID" sz="1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b="0" dirty="0" err="1">
                          <a:effectLst/>
                          <a:latin typeface="+mn-lt"/>
                        </a:rPr>
                        <a:t>frozen</a:t>
                      </a:r>
                      <a:r>
                        <a:rPr lang="id-ID" sz="1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b="0" dirty="0" err="1">
                          <a:effectLst/>
                          <a:latin typeface="+mn-lt"/>
                        </a:rPr>
                        <a:t>embedding</a:t>
                      </a:r>
                      <a:r>
                        <a:rPr lang="id-ID" sz="1800" b="0" dirty="0">
                          <a:effectLst/>
                          <a:latin typeface="+mn-lt"/>
                        </a:rPr>
                        <a:t> + </a:t>
                      </a:r>
                      <a:r>
                        <a:rPr lang="id-ID" sz="1800" b="0" dirty="0" err="1">
                          <a:effectLst/>
                          <a:latin typeface="+mn-lt"/>
                        </a:rPr>
                        <a:t>Ridge</a:t>
                      </a:r>
                      <a:r>
                        <a:rPr lang="id-ID" sz="1800" b="0" dirty="0">
                          <a:effectLst/>
                          <a:latin typeface="+mn-lt"/>
                        </a:rPr>
                        <a:t> </a:t>
                      </a:r>
                      <a:endParaRPr lang="id-ID" sz="1800" b="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dirty="0" err="1">
                          <a:effectLst/>
                          <a:latin typeface="+mn-lt"/>
                        </a:rPr>
                        <a:t>Baseline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frozen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HuBERT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di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split</a:t>
                      </a:r>
                      <a:r>
                        <a:rPr lang="id-ID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800" dirty="0" err="1">
                          <a:effectLst/>
                          <a:latin typeface="+mn-lt"/>
                        </a:rPr>
                        <a:t>strict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0,101072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 dirty="0">
                          <a:effectLst/>
                          <a:latin typeface="+mn-lt"/>
                        </a:rPr>
                        <a:t>0,127392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0,294469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d-ID" sz="1800">
                          <a:effectLst/>
                          <a:latin typeface="+mn-lt"/>
                        </a:rPr>
                        <a:t>0,898928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466348534"/>
                  </a:ext>
                </a:extLst>
              </a:tr>
              <a:tr h="446983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HuBERT+LoRA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Mean 10 runs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0,099061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0,125301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0,317294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0,900939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398594549"/>
                  </a:ext>
                </a:extLst>
              </a:tr>
              <a:tr h="476848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effectLst/>
                          <a:latin typeface="+mn-lt"/>
                        </a:rPr>
                        <a:t>Best-</a:t>
                      </a:r>
                      <a:r>
                        <a:rPr lang="en-US" sz="2400" b="1" dirty="0" err="1">
                          <a:effectLst/>
                          <a:latin typeface="+mn-lt"/>
                        </a:rPr>
                        <a:t>val</a:t>
                      </a:r>
                      <a:r>
                        <a:rPr lang="en-US" sz="2400" b="1" dirty="0">
                          <a:effectLst/>
                          <a:latin typeface="+mn-lt"/>
                        </a:rPr>
                        <a:t> run</a:t>
                      </a:r>
                      <a:endParaRPr lang="id-ID" sz="24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effectLst/>
                          <a:latin typeface="+mn-lt"/>
                        </a:rPr>
                        <a:t>0,098695</a:t>
                      </a:r>
                      <a:endParaRPr lang="id-ID" sz="24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effectLst/>
                          <a:latin typeface="+mn-lt"/>
                        </a:rPr>
                        <a:t>0,124714</a:t>
                      </a:r>
                      <a:endParaRPr lang="id-ID" sz="24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effectLst/>
                          <a:latin typeface="+mn-lt"/>
                        </a:rPr>
                        <a:t>0,323789</a:t>
                      </a:r>
                      <a:endParaRPr lang="id-ID" sz="24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effectLst/>
                          <a:latin typeface="+mn-lt"/>
                        </a:rPr>
                        <a:t>0,901305</a:t>
                      </a:r>
                      <a:endParaRPr lang="id-ID" sz="24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64725"/>
                  </a:ext>
                </a:extLst>
              </a:tr>
              <a:tr h="446983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Median run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0,099013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0,125023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0,320394</a:t>
                      </a:r>
                      <a:endParaRPr lang="id-ID" sz="180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0,900987</a:t>
                      </a:r>
                      <a:endParaRPr lang="id-ID" sz="18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1111626"/>
                  </a:ext>
                </a:extLst>
              </a:tr>
              <a:tr h="446983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+mn-lt"/>
                        </a:rPr>
                        <a:t>Ensemble 10 runs</a:t>
                      </a:r>
                      <a:endParaRPr lang="id-ID" sz="20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+mn-lt"/>
                        </a:rPr>
                        <a:t>0,097698</a:t>
                      </a:r>
                      <a:endParaRPr lang="id-ID" sz="20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+mn-lt"/>
                        </a:rPr>
                        <a:t>0,123640</a:t>
                      </a:r>
                      <a:endParaRPr lang="id-ID" sz="20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+mn-lt"/>
                        </a:rPr>
                        <a:t>0,335042</a:t>
                      </a:r>
                      <a:endParaRPr lang="id-ID" sz="20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+mn-lt"/>
                        </a:rPr>
                        <a:t>0,902302</a:t>
                      </a:r>
                      <a:endParaRPr lang="id-ID" sz="2000" b="1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89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97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srgbClr val="0A2B54"/>
                </a:solidFill>
                <a:latin typeface="Arial"/>
              </a:rPr>
              <a:t>Kesimpulan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60120" y="3138302"/>
            <a:ext cx="7223760" cy="1645920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3138302"/>
            <a:ext cx="91440" cy="164592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266318"/>
            <a:ext cx="6858000" cy="541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 dirty="0">
                <a:solidFill>
                  <a:srgbClr val="0A2B54"/>
                </a:solidFill>
                <a:latin typeface="Arial"/>
              </a:rPr>
              <a:t>Pipeline audio-only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74274"/>
            <a:ext cx="685800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000" dirty="0">
                <a:solidFill>
                  <a:schemeClr val="tx1"/>
                </a:solidFill>
                <a:latin typeface="Arial"/>
              </a:rPr>
              <a:t>9.974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klip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bersih</a:t>
            </a:r>
            <a:r>
              <a:rPr sz="2000" dirty="0">
                <a:solidFill>
                  <a:schemeClr val="tx1"/>
                </a:solidFill>
                <a:latin typeface="Arial"/>
              </a:rPr>
              <a:t>, strict split 5.936/1.999/2.039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Arial"/>
              </a:rPr>
              <a:t>Tanpa</a:t>
            </a:r>
            <a:r>
              <a:rPr lang="en-US"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</a:rPr>
              <a:t>overlap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group_id</a:t>
            </a:r>
            <a:r>
              <a:rPr sz="2000" dirty="0">
                <a:solidFill>
                  <a:schemeClr val="tx1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3138302"/>
            <a:ext cx="722376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89720" y="3138302"/>
            <a:ext cx="91440" cy="164592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3266318"/>
            <a:ext cx="6858000" cy="541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800" b="1" dirty="0" err="1">
                <a:solidFill>
                  <a:srgbClr val="0A2B54"/>
                </a:solidFill>
                <a:latin typeface="Arial"/>
              </a:rPr>
              <a:t>Embedding</a:t>
            </a:r>
            <a:r>
              <a:rPr lang="id-ID" sz="2800" b="1" dirty="0">
                <a:solidFill>
                  <a:srgbClr val="0A2B54"/>
                </a:solidFill>
                <a:latin typeface="Arial"/>
              </a:rPr>
              <a:t> SSL lebih efektif</a:t>
            </a:r>
            <a:endParaRPr sz="28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0" y="3880434"/>
            <a:ext cx="6745912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wav2vec2, </a:t>
            </a:r>
            <a:r>
              <a:rPr lang="id-ID" sz="2000" dirty="0" err="1"/>
              <a:t>HuBERT</a:t>
            </a:r>
            <a:r>
              <a:rPr lang="id-ID" sz="2000" dirty="0"/>
              <a:t>, dan </a:t>
            </a:r>
            <a:r>
              <a:rPr lang="id-ID" sz="2000" dirty="0" err="1"/>
              <a:t>WavLM</a:t>
            </a:r>
            <a:r>
              <a:rPr lang="id-ID" sz="2000" dirty="0"/>
              <a:t> secara umum mengungguli </a:t>
            </a:r>
            <a:r>
              <a:rPr lang="id-ID" sz="2000" dirty="0" err="1"/>
              <a:t>eGeMAPS</a:t>
            </a:r>
            <a:r>
              <a:rPr lang="id-ID" sz="2000" dirty="0"/>
              <a:t> pada </a:t>
            </a:r>
            <a:r>
              <a:rPr lang="id-ID" sz="2000" dirty="0" err="1"/>
              <a:t>official</a:t>
            </a:r>
            <a:r>
              <a:rPr lang="id-ID" sz="2000" dirty="0"/>
              <a:t> </a:t>
            </a:r>
            <a:r>
              <a:rPr lang="id-ID" sz="2000" dirty="0" err="1"/>
              <a:t>split</a:t>
            </a:r>
            <a:r>
              <a:rPr lang="id-ID" sz="2000" dirty="0"/>
              <a:t> dan </a:t>
            </a:r>
            <a:r>
              <a:rPr lang="id-ID" sz="2000" dirty="0" err="1"/>
              <a:t>strict</a:t>
            </a:r>
            <a:r>
              <a:rPr lang="id-ID" sz="2000" dirty="0"/>
              <a:t> </a:t>
            </a:r>
            <a:r>
              <a:rPr lang="id-ID" sz="2000" dirty="0" err="1"/>
              <a:t>split</a:t>
            </a:r>
            <a:r>
              <a:rPr lang="id-ID" sz="2000" dirty="0"/>
              <a:t>.</a:t>
            </a:r>
            <a:endParaRPr sz="20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0120" y="5470022"/>
            <a:ext cx="7223760" cy="1645920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" y="5470022"/>
            <a:ext cx="91440" cy="164592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598038"/>
            <a:ext cx="6858000" cy="541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 dirty="0">
                <a:solidFill>
                  <a:srgbClr val="0A2B54"/>
                </a:solidFill>
                <a:latin typeface="Arial"/>
              </a:rPr>
              <a:t>Baseline strict </a:t>
            </a:r>
            <a:r>
              <a:rPr sz="2800" b="1" dirty="0" err="1">
                <a:solidFill>
                  <a:srgbClr val="0A2B54"/>
                </a:solidFill>
                <a:latin typeface="Arial"/>
              </a:rPr>
              <a:t>terbaik</a:t>
            </a:r>
            <a:endParaRPr sz="28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8720" y="6167549"/>
            <a:ext cx="685800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b="0" dirty="0" err="1">
                <a:solidFill>
                  <a:schemeClr val="tx1"/>
                </a:solidFill>
                <a:latin typeface="Arial"/>
              </a:rPr>
              <a:t>WavLM</a:t>
            </a:r>
            <a:r>
              <a:rPr lang="id-ID" sz="2000" b="0" dirty="0">
                <a:solidFill>
                  <a:schemeClr val="tx1"/>
                </a:solidFill>
                <a:latin typeface="Arial"/>
              </a:rPr>
              <a:t> </a:t>
            </a:r>
            <a:r>
              <a:rPr lang="id-ID" sz="2000" b="0" dirty="0" err="1">
                <a:solidFill>
                  <a:schemeClr val="tx1"/>
                </a:solidFill>
                <a:latin typeface="Arial"/>
              </a:rPr>
              <a:t>frozen</a:t>
            </a:r>
            <a:r>
              <a:rPr lang="id-ID" sz="2000" b="0" dirty="0">
                <a:solidFill>
                  <a:schemeClr val="tx1"/>
                </a:solidFill>
                <a:latin typeface="Arial"/>
              </a:rPr>
              <a:t> + </a:t>
            </a:r>
            <a:r>
              <a:rPr lang="id-ID" sz="2000" b="0" dirty="0" err="1">
                <a:solidFill>
                  <a:schemeClr val="tx1"/>
                </a:solidFill>
                <a:latin typeface="Arial"/>
              </a:rPr>
              <a:t>Ridge</a:t>
            </a:r>
            <a:r>
              <a:rPr lang="id-ID" sz="2000" b="0" dirty="0">
                <a:solidFill>
                  <a:schemeClr val="tx1"/>
                </a:solidFill>
                <a:latin typeface="Arial"/>
              </a:rPr>
              <a:t> menjadi </a:t>
            </a:r>
            <a:r>
              <a:rPr lang="id-ID" sz="2000" b="0" dirty="0" err="1">
                <a:solidFill>
                  <a:schemeClr val="tx1"/>
                </a:solidFill>
                <a:latin typeface="Arial"/>
              </a:rPr>
              <a:t>baseline</a:t>
            </a:r>
            <a:r>
              <a:rPr lang="id-ID" sz="2000" b="0" dirty="0">
                <a:solidFill>
                  <a:schemeClr val="tx1"/>
                </a:solidFill>
                <a:latin typeface="Arial"/>
              </a:rPr>
              <a:t> </a:t>
            </a:r>
            <a:r>
              <a:rPr lang="id-ID" sz="2000" b="0" dirty="0" err="1">
                <a:solidFill>
                  <a:schemeClr val="tx1"/>
                </a:solidFill>
                <a:latin typeface="Arial"/>
              </a:rPr>
              <a:t>strict</a:t>
            </a:r>
            <a:r>
              <a:rPr lang="id-ID" sz="2000" b="0" dirty="0">
                <a:solidFill>
                  <a:schemeClr val="tx1"/>
                </a:solidFill>
                <a:latin typeface="Arial"/>
              </a:rPr>
              <a:t> terbaik dengan MAE 0,099881 dan R² 0,309102.</a:t>
            </a:r>
            <a:endParaRPr sz="2000" b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19" y="5470021"/>
            <a:ext cx="7770925" cy="1963165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5470022"/>
            <a:ext cx="91440" cy="164592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19" y="5598038"/>
            <a:ext cx="7380093" cy="541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800" b="1" dirty="0" err="1">
                <a:solidFill>
                  <a:srgbClr val="0A2B54"/>
                </a:solidFill>
                <a:latin typeface="Arial"/>
              </a:rPr>
              <a:t>HuBERT+LoRA</a:t>
            </a:r>
            <a:r>
              <a:rPr lang="id-ID" sz="2800" b="1" dirty="0">
                <a:solidFill>
                  <a:srgbClr val="0A2B54"/>
                </a:solidFill>
                <a:latin typeface="Arial"/>
              </a:rPr>
              <a:t> menjadi hasil akhir terbaik</a:t>
            </a:r>
            <a:endParaRPr sz="28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18320" y="6189193"/>
            <a:ext cx="7450884" cy="10341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 err="1"/>
              <a:t>Ensemble</a:t>
            </a:r>
            <a:r>
              <a:rPr lang="id-ID" sz="2000" dirty="0"/>
              <a:t> </a:t>
            </a:r>
            <a:r>
              <a:rPr lang="id-ID" sz="2000" dirty="0" err="1"/>
              <a:t>HuBERT+LoRA</a:t>
            </a:r>
            <a:r>
              <a:rPr lang="id-ID" sz="2000" dirty="0"/>
              <a:t> memperoleh MAE 0,097698 dan R² 0,335042 pada </a:t>
            </a:r>
            <a:r>
              <a:rPr lang="id-ID" sz="2000" dirty="0" err="1"/>
              <a:t>test</a:t>
            </a:r>
            <a:r>
              <a:rPr lang="id-ID" sz="2000" dirty="0"/>
              <a:t> </a:t>
            </a:r>
            <a:r>
              <a:rPr lang="id-ID" sz="2000" dirty="0" err="1"/>
              <a:t>strict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ensemble</a:t>
            </a:r>
            <a:r>
              <a:rPr lang="id-ID" sz="2000" dirty="0"/>
              <a:t>.</a:t>
            </a:r>
            <a:r>
              <a:rPr lang="en-US" sz="2000" dirty="0"/>
              <a:t> Dan </a:t>
            </a:r>
            <a:r>
              <a:rPr lang="id-ID" sz="2000" dirty="0"/>
              <a:t>MAE 0,098695</a:t>
            </a:r>
            <a:r>
              <a:rPr lang="en-US" sz="2000" dirty="0"/>
              <a:t> </a:t>
            </a:r>
            <a:r>
              <a:rPr lang="id-ID" sz="2000" dirty="0"/>
              <a:t>dan R² 0,323789</a:t>
            </a:r>
            <a:r>
              <a:rPr lang="en-US" sz="2000" dirty="0">
                <a:solidFill>
                  <a:srgbClr val="5A6473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pada best </a:t>
            </a:r>
            <a:r>
              <a:rPr lang="en-US" sz="2000" dirty="0" err="1">
                <a:solidFill>
                  <a:schemeClr val="tx1"/>
                </a:solidFill>
              </a:rPr>
              <a:t>val</a:t>
            </a:r>
            <a:r>
              <a:rPr lang="en-US" sz="2000" dirty="0">
                <a:solidFill>
                  <a:schemeClr val="tx1"/>
                </a:solidFill>
              </a:rPr>
              <a:t> run.</a:t>
            </a:r>
            <a:endParaRPr lang="id-ID" sz="20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11680" y="7818120"/>
            <a:ext cx="14264640" cy="1178396"/>
          </a:xfrm>
          <a:prstGeom prst="roundRect">
            <a:avLst/>
          </a:prstGeom>
          <a:solidFill>
            <a:srgbClr val="FFEFC2"/>
          </a:solidFill>
          <a:ln>
            <a:solidFill>
              <a:srgbClr val="FFE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id-ID" sz="2400" b="1" dirty="0">
                <a:solidFill>
                  <a:srgbClr val="0A2B54"/>
                </a:solidFill>
                <a:latin typeface="Arial"/>
              </a:rPr>
              <a:t>Inti kontribusi: evaluasi audio-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only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 yang lebih terkontrol melalui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strict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split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 berbasis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group_id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, serta pembandingan fitur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handcrafted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,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embedding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 SSL, dan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fine-tuning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lang="id-ID" sz="2400" b="1" dirty="0" err="1">
                <a:solidFill>
                  <a:srgbClr val="0A2B54"/>
                </a:solidFill>
                <a:latin typeface="Arial"/>
              </a:rPr>
              <a:t>LoRA</a:t>
            </a:r>
            <a:r>
              <a:rPr lang="id-ID" sz="2400" b="1" dirty="0">
                <a:solidFill>
                  <a:srgbClr val="0A2B54"/>
                </a:solidFill>
                <a:latin typeface="Arial"/>
              </a:rPr>
              <a:t>.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432" y="2085948"/>
            <a:ext cx="16470875" cy="1292760"/>
          </a:xfrm>
        </p:spPr>
        <p:txBody>
          <a:bodyPr>
            <a:normAutofit fontScale="90000"/>
          </a:bodyPr>
          <a:lstStyle/>
          <a:p>
            <a:r>
              <a:rPr lang="id-ID" dirty="0">
                <a:solidFill>
                  <a:srgbClr val="0A2B54"/>
                </a:solidFill>
                <a:latin typeface="Arial"/>
              </a:rPr>
              <a:t>Saran dan Pekerjaan Lanjutan</a:t>
            </a:r>
            <a:br>
              <a:rPr lang="id-ID" dirty="0">
                <a:solidFill>
                  <a:srgbClr val="0A2B54"/>
                </a:solidFill>
                <a:latin typeface="Arial"/>
              </a:rPr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56992" y="3314700"/>
            <a:ext cx="5166360" cy="1920240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6992" y="3314700"/>
            <a:ext cx="91440" cy="192024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5592" y="3371612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>
                <a:solidFill>
                  <a:srgbClr val="0A2B54"/>
                </a:solidFill>
                <a:latin typeface="Arial"/>
              </a:rPr>
              <a:t>Pooling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lebih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informatif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5592" y="3881628"/>
            <a:ext cx="4800600" cy="10341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Uji </a:t>
            </a:r>
            <a:r>
              <a:rPr lang="id-ID" sz="2000" dirty="0" err="1"/>
              <a:t>attentive</a:t>
            </a:r>
            <a:r>
              <a:rPr lang="id-ID" sz="2000" dirty="0"/>
              <a:t> </a:t>
            </a:r>
            <a:r>
              <a:rPr lang="id-ID" sz="2000" dirty="0" err="1"/>
              <a:t>pooling</a:t>
            </a:r>
            <a:r>
              <a:rPr lang="id-ID" sz="2000" dirty="0"/>
              <a:t>, </a:t>
            </a:r>
            <a:r>
              <a:rPr lang="id-ID" sz="2000" dirty="0" err="1"/>
              <a:t>statistics</a:t>
            </a:r>
            <a:r>
              <a:rPr lang="id-ID" sz="2000" dirty="0"/>
              <a:t> </a:t>
            </a:r>
            <a:r>
              <a:rPr lang="id-ID" sz="2000" dirty="0" err="1"/>
              <a:t>pooling</a:t>
            </a:r>
            <a:r>
              <a:rPr lang="id-ID" sz="2000" dirty="0"/>
              <a:t>, atau temporal </a:t>
            </a:r>
            <a:r>
              <a:rPr lang="id-ID" sz="2000" dirty="0" err="1"/>
              <a:t>attention</a:t>
            </a:r>
            <a:r>
              <a:rPr lang="id-ID" sz="2000" dirty="0"/>
              <a:t> untuk merangkum dinamika ujaran.</a:t>
            </a:r>
            <a:endParaRPr sz="18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0552" y="3314700"/>
            <a:ext cx="5166360" cy="1920240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0552" y="3314700"/>
            <a:ext cx="91440" cy="1920240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09152" y="3442716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Ablasi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LoRA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lebih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terkontrol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09152" y="4005203"/>
            <a:ext cx="480060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Variasikan target </a:t>
            </a:r>
            <a:r>
              <a:rPr lang="id-ID" sz="2000" dirty="0" err="1"/>
              <a:t>module</a:t>
            </a:r>
            <a:r>
              <a:rPr lang="id-ID" sz="2000" dirty="0"/>
              <a:t>, </a:t>
            </a:r>
            <a:r>
              <a:rPr lang="id-ID" sz="2000" dirty="0" err="1"/>
              <a:t>rank</a:t>
            </a:r>
            <a:r>
              <a:rPr lang="id-ID" sz="2000" dirty="0"/>
              <a:t>, </a:t>
            </a:r>
            <a:r>
              <a:rPr lang="id-ID" sz="2000" dirty="0" err="1"/>
              <a:t>alpha</a:t>
            </a:r>
            <a:r>
              <a:rPr lang="id-ID" sz="2000" dirty="0"/>
              <a:t>, dan </a:t>
            </a:r>
            <a:r>
              <a:rPr lang="id-ID" sz="2000" dirty="0" err="1"/>
              <a:t>dropout</a:t>
            </a:r>
            <a:r>
              <a:rPr lang="id-ID" sz="2000" dirty="0"/>
              <a:t> satu per satu.</a:t>
            </a:r>
            <a:endParaRPr sz="18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204112" y="3314700"/>
            <a:ext cx="51663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204112" y="3314700"/>
            <a:ext cx="91440" cy="192024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432712" y="3442716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>
                <a:solidFill>
                  <a:srgbClr val="0A2B54"/>
                </a:solidFill>
                <a:latin typeface="Arial"/>
              </a:rPr>
              <a:t>Partial unfreezing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2712" y="3881628"/>
            <a:ext cx="4800600" cy="10341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Uji pembukaan sebagian layer atas dengan kontrol biaya komputasi dan risiko </a:t>
            </a:r>
            <a:r>
              <a:rPr lang="id-ID" sz="2000" dirty="0" err="1"/>
              <a:t>overfitting</a:t>
            </a:r>
            <a:r>
              <a:rPr lang="id-ID" sz="2000" dirty="0"/>
              <a:t>.</a:t>
            </a:r>
            <a:endParaRPr sz="20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56992" y="6057900"/>
            <a:ext cx="5166360" cy="1920240"/>
          </a:xfrm>
          <a:prstGeom prst="roundRect">
            <a:avLst/>
          </a:prstGeom>
          <a:solidFill>
            <a:srgbClr val="E2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6992" y="6057900"/>
            <a:ext cx="91440" cy="1920240"/>
          </a:xfrm>
          <a:prstGeom prst="rect">
            <a:avLst/>
          </a:prstGeom>
          <a:solidFill>
            <a:srgbClr val="008BCB"/>
          </a:solidFill>
          <a:ln>
            <a:solidFill>
              <a:srgbClr val="008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5592" y="6185916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Validasi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berbasis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5592" y="6624828"/>
            <a:ext cx="480060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Gunakan </a:t>
            </a:r>
            <a:r>
              <a:rPr lang="id-ID" sz="2000" dirty="0" err="1"/>
              <a:t>group-based</a:t>
            </a:r>
            <a:r>
              <a:rPr lang="id-ID" sz="2000" dirty="0"/>
              <a:t> </a:t>
            </a:r>
            <a:r>
              <a:rPr lang="id-ID" sz="2000" dirty="0" err="1"/>
              <a:t>cross-validation</a:t>
            </a:r>
            <a:r>
              <a:rPr lang="id-ID" sz="2000" dirty="0"/>
              <a:t> untuk menguji stabilitas hasil </a:t>
            </a:r>
            <a:r>
              <a:rPr lang="id-ID" sz="2000" dirty="0" err="1"/>
              <a:t>strict</a:t>
            </a:r>
            <a:r>
              <a:rPr lang="id-ID" sz="2000" dirty="0"/>
              <a:t> </a:t>
            </a:r>
            <a:r>
              <a:rPr lang="id-ID" sz="2000" dirty="0" err="1"/>
              <a:t>split</a:t>
            </a:r>
            <a:r>
              <a:rPr lang="id-ID" sz="2000" dirty="0"/>
              <a:t>.</a:t>
            </a:r>
            <a:endParaRPr sz="18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0552" y="6057900"/>
            <a:ext cx="5166360" cy="1920240"/>
          </a:xfrm>
          <a:prstGeom prst="roundRect">
            <a:avLst/>
          </a:prstGeom>
          <a:solidFill>
            <a:srgbClr val="FFEFC2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0552" y="6057900"/>
            <a:ext cx="91440" cy="1920240"/>
          </a:xfrm>
          <a:prstGeom prst="rect">
            <a:avLst/>
          </a:prstGeom>
          <a:solidFill>
            <a:srgbClr val="FAB716"/>
          </a:solidFill>
          <a:ln>
            <a:solidFill>
              <a:srgbClr val="FAB7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09152" y="6185916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 err="1">
                <a:solidFill>
                  <a:srgbClr val="0A2B54"/>
                </a:solidFill>
                <a:latin typeface="Arial"/>
              </a:rPr>
              <a:t>Analisis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error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lebih</a:t>
            </a:r>
            <a:r>
              <a:rPr sz="2400" b="1" dirty="0">
                <a:solidFill>
                  <a:srgbClr val="0A2B54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A2B54"/>
                </a:solidFill>
                <a:latin typeface="Arial"/>
              </a:rPr>
              <a:t>dalam</a:t>
            </a:r>
            <a:endParaRPr sz="2400" b="1" dirty="0">
              <a:solidFill>
                <a:srgbClr val="0A2B54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09152" y="6624828"/>
            <a:ext cx="4800600" cy="10341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Analisis per-</a:t>
            </a:r>
            <a:r>
              <a:rPr lang="id-ID" sz="2000" dirty="0" err="1"/>
              <a:t>trait</a:t>
            </a:r>
            <a:r>
              <a:rPr lang="id-ID" sz="2000" dirty="0"/>
              <a:t>, </a:t>
            </a:r>
            <a:r>
              <a:rPr lang="id-ID" sz="2000" dirty="0" err="1"/>
              <a:t>speech</a:t>
            </a:r>
            <a:r>
              <a:rPr lang="id-ID" sz="2000" dirty="0"/>
              <a:t> </a:t>
            </a:r>
            <a:r>
              <a:rPr lang="id-ID" sz="2000" dirty="0" err="1"/>
              <a:t>coverage</a:t>
            </a:r>
            <a:r>
              <a:rPr lang="id-ID" sz="2000" dirty="0"/>
              <a:t>, </a:t>
            </a:r>
            <a:r>
              <a:rPr lang="id-ID" sz="2000" dirty="0" err="1"/>
              <a:t>noise</a:t>
            </a:r>
            <a:r>
              <a:rPr lang="id-ID" sz="2000" dirty="0"/>
              <a:t>, durasi efektif, distribusi label, dan </a:t>
            </a:r>
            <a:r>
              <a:rPr lang="id-ID" sz="2000" dirty="0" err="1"/>
              <a:t>metadata</a:t>
            </a:r>
            <a:r>
              <a:rPr lang="id-ID" sz="2000" dirty="0"/>
              <a:t>.</a:t>
            </a:r>
            <a:endParaRPr sz="1800" b="0" dirty="0">
              <a:solidFill>
                <a:srgbClr val="5A6473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204112" y="6057900"/>
            <a:ext cx="51663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204112" y="6057900"/>
            <a:ext cx="91440" cy="1920240"/>
          </a:xfrm>
          <a:prstGeom prst="rect">
            <a:avLst/>
          </a:prstGeom>
          <a:solidFill>
            <a:srgbClr val="2D915A"/>
          </a:solidFill>
          <a:ln>
            <a:solidFill>
              <a:srgbClr val="2D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432712" y="6185916"/>
            <a:ext cx="4800600" cy="4801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>
                <a:solidFill>
                  <a:srgbClr val="0A2B54"/>
                </a:solidFill>
                <a:latin typeface="Arial"/>
              </a:rPr>
              <a:t>Arah multimodal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2712" y="6624828"/>
            <a:ext cx="4800600" cy="72635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id-ID" sz="2000" dirty="0"/>
              <a:t>Uji visual/transkrip sebagai studi lanjutan, bukan pembanding langsung audio-</a:t>
            </a:r>
            <a:r>
              <a:rPr lang="id-ID" sz="2000" dirty="0" err="1"/>
              <a:t>only</a:t>
            </a:r>
            <a:r>
              <a:rPr lang="id-ID" sz="2000" dirty="0"/>
              <a:t>.</a:t>
            </a:r>
            <a:endParaRPr sz="1800" b="0" dirty="0">
              <a:solidFill>
                <a:srgbClr val="5A647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90338" y="3553865"/>
            <a:ext cx="10507324" cy="2714398"/>
          </a:xfrm>
        </p:spPr>
        <p:txBody>
          <a:bodyPr/>
          <a:lstStyle/>
          <a:p>
            <a:pPr algn="ctr"/>
            <a:r>
              <a:rPr sz="11500" b="1" dirty="0" err="1">
                <a:solidFill>
                  <a:schemeClr val="bg1"/>
                </a:solidFill>
                <a:latin typeface="Arial"/>
              </a:rPr>
              <a:t>Terima</a:t>
            </a:r>
            <a:r>
              <a:rPr sz="11500" b="1" dirty="0">
                <a:solidFill>
                  <a:schemeClr val="bg1"/>
                </a:solidFill>
                <a:latin typeface="Arial"/>
              </a:rPr>
              <a:t> </a:t>
            </a:r>
            <a:r>
              <a:rPr sz="11500" b="1" dirty="0" err="1">
                <a:solidFill>
                  <a:schemeClr val="bg1"/>
                </a:solidFill>
                <a:latin typeface="Arial"/>
              </a:rPr>
              <a:t>kasih</a:t>
            </a:r>
            <a:endParaRPr sz="115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1193</Words>
  <Application>Microsoft Office PowerPoint</Application>
  <PresentationFormat>Custom</PresentationFormat>
  <Paragraphs>277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Raleway Black</vt:lpstr>
      <vt:lpstr>Raleway</vt:lpstr>
      <vt:lpstr>Arial</vt:lpstr>
      <vt:lpstr>Times New Roman</vt:lpstr>
      <vt:lpstr>Custom Design</vt:lpstr>
      <vt:lpstr>EVALUASI FITUR HANDCRAFTED DAN MODEL SPEECH PRALATIH UNTUK ESTIMASI KEPRIBADIAN BIG FIVE BERBASIS AUDIO DENGAN PROTOKOL STRICT SPLIT DAN ADAPTASI LoRA</vt:lpstr>
      <vt:lpstr>Latar Belakang </vt:lpstr>
      <vt:lpstr>Masalah Penelitian </vt:lpstr>
      <vt:lpstr>Rumusan Masalah </vt:lpstr>
      <vt:lpstr>PowerPoint Presentation</vt:lpstr>
      <vt:lpstr>Dataset dan Skenario Penelitian </vt:lpstr>
      <vt:lpstr>Pra-pemrosesan Audio</vt:lpstr>
      <vt:lpstr>Strict Split</vt:lpstr>
      <vt:lpstr>Alur Skenario Representasi dan Model </vt:lpstr>
      <vt:lpstr>Skenario Baseline : Official Split dan Strict Split </vt:lpstr>
      <vt:lpstr>Hasil Utama Baseline (Official Split)  </vt:lpstr>
      <vt:lpstr>Hasil Utama Baseline (Strict Split)  </vt:lpstr>
      <vt:lpstr>Skenario Fine Tuning </vt:lpstr>
      <vt:lpstr>Pencarian Optuna untuk Hyperparameter Tuning </vt:lpstr>
      <vt:lpstr>Hasil Utama Fine-tuning / LoRA </vt:lpstr>
      <vt:lpstr>Kesimpulan</vt:lpstr>
      <vt:lpstr>Saran dan Pekerjaan Lanjutan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ITS Informatics</dc:creator>
  <cp:lastModifiedBy>Adyuta Prajahita Murdianto</cp:lastModifiedBy>
  <cp:revision>18</cp:revision>
  <dcterms:created xsi:type="dcterms:W3CDTF">2006-08-16T00:00:00Z</dcterms:created>
  <dcterms:modified xsi:type="dcterms:W3CDTF">2026-06-23T09:15:37Z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0x010100374CCD0761A01E42A0D8C98009C5238A</vt:lpwstr>
  </property>
  <property fmtid="{D5CDD505-2E9C-101B-9397-08002B2CF9AE}" pid="3" name="MediaServiceImageTags">
    <vt:lpwstr/>
  </property>
</Properties>
</file>